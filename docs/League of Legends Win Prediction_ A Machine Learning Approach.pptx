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7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6256000" cy="9144000"/>
  <p:notesSz cx="9144000" cy="16256000"/>
  <p:embeddedFontLst>
    <p:embeddedFont>
      <p:font typeface="Mongolian Baiti" panose="03000500000000000000" pitchFamily="66" charset="0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  <p:embeddedFont>
      <p:font typeface="Quattrocento Sans" panose="020B0502050000020003" pitchFamily="34" charset="0"/>
      <p:regular r:id="rId32"/>
    </p:embeddedFont>
    <p:embeddedFont>
      <p:font typeface="Quattrocento Sans" panose="020B0502050000020003" pitchFamily="34" charset="-122"/>
      <p:regular r:id="rId33"/>
    </p:embeddedFont>
    <p:embeddedFont>
      <p:font typeface="Quattrocento Sans" panose="020B0502050000020003" pitchFamily="34" charset="-120"/>
      <p:regular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font" Target="fonts/font8.fntdata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E3D3A"/>
              </a:solidFill>
              <a:effectLst/>
            </c:spPr>
          </c:dPt>
          <c:dPt>
            <c:idx val="1"/>
            <c:bubble3D val="0"/>
            <c:spPr>
              <a:solidFill>
                <a:srgbClr val="B8833E"/>
              </a:solidFill>
              <a:effectLst/>
            </c:spPr>
          </c:dPt>
          <c:dPt>
            <c:idx val="2"/>
            <c:bubble3D val="0"/>
            <c:spPr>
              <a:solidFill>
                <a:srgbClr val="6B8E7B"/>
              </a:solidFill>
              <a:effectLst/>
            </c:spPr>
          </c:dPt>
          <c:dPt>
            <c:idx val="3"/>
            <c:bubble3D val="0"/>
            <c:spPr>
              <a:solidFill>
                <a:srgbClr val="8B4513"/>
              </a:solidFill>
              <a:effectLst/>
            </c:spPr>
          </c:dPt>
          <c:dPt>
            <c:idx val="4"/>
            <c:bubble3D val="0"/>
            <c:spPr>
              <a:solidFill>
                <a:srgbClr val="4A6741"/>
              </a:solidFill>
              <a:effectLst/>
            </c:spPr>
          </c:dPt>
          <c:dLbls>
            <c:dLbl>
              <c:idx val="0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Structure</c:v>
                </c:pt>
                <c:pt idx="1">
                  <c:v>Rune</c:v>
                </c:pt>
                <c:pt idx="2">
                  <c:v>Combat</c:v>
                </c:pt>
                <c:pt idx="3">
                  <c:v>Ability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2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385e66e-cd10-4792-b36e-185309f543b0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2" Type="http://schemas.openxmlformats.org/officeDocument/2006/relationships/notesSlide" Target="../notesSlides/notesSlide13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3.xml"/><Relationship Id="rId2" Type="http://schemas.openxmlformats.org/officeDocument/2006/relationships/tags" Target="../tags/tag5.xml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image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535" y="0"/>
            <a:ext cx="2660650" cy="2549525"/>
          </a:xfrm>
          <a:prstGeom prst="rect">
            <a:avLst/>
          </a:prstGeom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2868930" y="333375"/>
            <a:ext cx="10518140" cy="2515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1450" algn="l"/>
              </a:tabLst>
            </a:pPr>
            <a:r>
              <a:rPr kumimoji="0" lang="en-US" altLang="en-US" sz="40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Mongolian Baiti" panose="03000500000000000000" pitchFamily="66" charset="0"/>
                <a:ea typeface="Calibri" panose="020F0502020204030204" charset="0"/>
              </a:rPr>
              <a:t>Mansoura University</a:t>
            </a: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1450" algn="l"/>
              </a:tabLst>
            </a:pPr>
            <a:r>
              <a:rPr kumimoji="0" lang="en-US" altLang="en-US" sz="40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Mongolian Baiti" panose="03000500000000000000" pitchFamily="66" charset="0"/>
                <a:ea typeface="Calibri" panose="020F0502020204030204" charset="0"/>
              </a:rPr>
              <a:t>Faculty of Computers and Information</a:t>
            </a: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</a:endParaRPr>
          </a:p>
          <a:p>
            <a:pPr lvl="0" algn="ctr" rtl="0" eaLnBrk="0" hangingPunct="0"/>
            <a:r>
              <a:rPr lang="en-US" altLang="en-US" sz="4000" b="1" dirty="0">
                <a:solidFill>
                  <a:schemeClr val="accent1"/>
                </a:solidFill>
                <a:latin typeface="Mongolian Baiti" panose="03000500000000000000" pitchFamily="66" charset="0"/>
                <a:ea typeface="Calibri" panose="020F0502020204030204" charset="0"/>
              </a:rPr>
              <a:t>Department </a:t>
            </a:r>
            <a:r>
              <a:rPr lang="en-US" altLang="en-US" sz="4000" b="1" dirty="0" smtClean="0">
                <a:solidFill>
                  <a:schemeClr val="accent1"/>
                </a:solidFill>
                <a:latin typeface="Mongolian Baiti" panose="03000500000000000000" pitchFamily="66" charset="0"/>
                <a:ea typeface="Calibri" panose="020F0502020204030204" charset="0"/>
              </a:rPr>
              <a:t> of Computer </a:t>
            </a:r>
            <a:r>
              <a:rPr lang="en-US" altLang="en-US" sz="4000" b="1" dirty="0">
                <a:solidFill>
                  <a:schemeClr val="accent1"/>
                </a:solidFill>
                <a:latin typeface="Mongolian Baiti" panose="03000500000000000000" pitchFamily="66" charset="0"/>
                <a:ea typeface="Calibri" panose="020F0502020204030204" charset="0"/>
              </a:rPr>
              <a:t>Science</a:t>
            </a: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</a:endParaRPr>
          </a:p>
        </p:txBody>
      </p:sp>
      <p:sp>
        <p:nvSpPr>
          <p:cNvPr id="30" name="مستطيل 7"/>
          <p:cNvSpPr/>
          <p:nvPr/>
        </p:nvSpPr>
        <p:spPr>
          <a:xfrm>
            <a:off x="2868930" y="4419600"/>
            <a:ext cx="10435590" cy="1260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en-US" sz="4000" b="1" dirty="0" smtClean="0">
                <a:solidFill>
                  <a:schemeClr val="tx2"/>
                </a:solidFill>
              </a:rPr>
              <a:t>Submitted  By</a:t>
            </a:r>
            <a:endParaRPr lang="en-US" sz="4000" b="1" dirty="0" smtClean="0">
              <a:solidFill>
                <a:schemeClr val="tx2"/>
              </a:solidFill>
            </a:endParaRPr>
          </a:p>
          <a:p>
            <a:pPr algn="ctr" rtl="0"/>
            <a:r>
              <a:rPr lang="en-US" sz="3600" b="1" dirty="0" smtClean="0">
                <a:solidFill>
                  <a:srgbClr val="C00000"/>
                </a:solidFill>
              </a:rPr>
              <a:t>Ibrahim Mohamed Ibrahim Elsayed Hegazi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31" name="مستطيل 8"/>
          <p:cNvSpPr/>
          <p:nvPr/>
        </p:nvSpPr>
        <p:spPr>
          <a:xfrm>
            <a:off x="6409690" y="5714365"/>
            <a:ext cx="335407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en-US" sz="4000" b="1" dirty="0" smtClean="0">
                <a:solidFill>
                  <a:schemeClr val="tx2"/>
                </a:solidFill>
              </a:rPr>
              <a:t> Supervisors</a:t>
            </a:r>
            <a:endParaRPr lang="en-US" sz="4000" b="1" dirty="0" smtClean="0">
              <a:solidFill>
                <a:schemeClr val="tx2"/>
              </a:solidFill>
            </a:endParaRPr>
          </a:p>
        </p:txBody>
      </p:sp>
      <p:sp>
        <p:nvSpPr>
          <p:cNvPr id="32" name="مستطيل 9"/>
          <p:cNvSpPr/>
          <p:nvPr/>
        </p:nvSpPr>
        <p:spPr>
          <a:xfrm>
            <a:off x="3762849" y="7242503"/>
            <a:ext cx="8730716" cy="15497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en-US" sz="2800" b="1" dirty="0" smtClean="0">
              <a:solidFill>
                <a:srgbClr val="FF0000"/>
              </a:solidFill>
            </a:endParaRPr>
          </a:p>
          <a:p>
            <a:pPr algn="ctr" rtl="0"/>
            <a:r>
              <a:rPr lang="en-US" sz="2800" b="1" dirty="0">
                <a:solidFill>
                  <a:schemeClr val="tx2"/>
                </a:solidFill>
              </a:rPr>
              <a:t>Department of Computer Science</a:t>
            </a:r>
            <a:endParaRPr lang="en-US" sz="2800" b="1" dirty="0">
              <a:solidFill>
                <a:schemeClr val="tx2"/>
              </a:solidFill>
            </a:endParaRPr>
          </a:p>
          <a:p>
            <a:pPr algn="ctr" rtl="0"/>
            <a:r>
              <a:rPr lang="en-US" sz="2800" b="1" dirty="0">
                <a:solidFill>
                  <a:schemeClr val="tx2"/>
                </a:solidFill>
              </a:rPr>
              <a:t>Faculty of Computers and Information</a:t>
            </a:r>
            <a:endParaRPr lang="en-US" sz="2800" b="1" dirty="0">
              <a:solidFill>
                <a:schemeClr val="tx2"/>
              </a:solidFill>
            </a:endParaRPr>
          </a:p>
          <a:p>
            <a:pPr algn="ctr" rtl="0"/>
            <a:r>
              <a:rPr lang="en-US" sz="2800" b="1" dirty="0">
                <a:solidFill>
                  <a:schemeClr val="tx2"/>
                </a:solidFill>
              </a:rPr>
              <a:t>Mansoura University</a:t>
            </a:r>
            <a:endParaRPr lang="en-US" sz="2800" b="1" dirty="0">
              <a:solidFill>
                <a:schemeClr val="tx2"/>
              </a:solidFill>
            </a:endParaRPr>
          </a:p>
          <a:p>
            <a:pPr algn="ctr"/>
            <a:endParaRPr lang="ar-SA" sz="2800" dirty="0"/>
          </a:p>
        </p:txBody>
      </p:sp>
      <p:sp>
        <p:nvSpPr>
          <p:cNvPr id="33" name="Text Box 32"/>
          <p:cNvSpPr txBox="1"/>
          <p:nvPr/>
        </p:nvSpPr>
        <p:spPr>
          <a:xfrm>
            <a:off x="2035175" y="6421120"/>
            <a:ext cx="54184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sz="3600" b="1" dirty="0" smtClean="0">
                <a:solidFill>
                  <a:srgbClr val="C00000"/>
                </a:solidFill>
              </a:rPr>
              <a:t>Dr Mohamed Abu Elsoud</a:t>
            </a:r>
            <a:endParaRPr lang="en-US" sz="3600" b="1" dirty="0" smtClean="0">
              <a:solidFill>
                <a:srgbClr val="C00000"/>
              </a:solidFill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9312910" y="6421120"/>
            <a:ext cx="54184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sz="3600" b="1" dirty="0" smtClean="0">
                <a:solidFill>
                  <a:srgbClr val="C00000"/>
                </a:solidFill>
              </a:rPr>
              <a:t>Dr Mohamed Haggag</a:t>
            </a:r>
            <a:endParaRPr lang="en-US" sz="3600" b="1" dirty="0" smtClean="0">
              <a:solidFill>
                <a:srgbClr val="C00000"/>
              </a:solidFill>
            </a:endParaRPr>
          </a:p>
        </p:txBody>
      </p:sp>
      <p:sp>
        <p:nvSpPr>
          <p:cNvPr id="35" name="Rectangle 3"/>
          <p:cNvSpPr>
            <a:spLocks noChangeArrowheads="1"/>
          </p:cNvSpPr>
          <p:nvPr/>
        </p:nvSpPr>
        <p:spPr bwMode="auto">
          <a:xfrm>
            <a:off x="641985" y="2822575"/>
            <a:ext cx="14889480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/>
            <a:r>
              <a:rPr lang="en-US" sz="4800" b="1" u="sng" dirty="0" smtClean="0">
                <a:solidFill>
                  <a:srgbClr val="C00000"/>
                </a:solidFill>
              </a:rPr>
              <a:t>League of Legends Win Prediction: A Machine Learning Approach</a:t>
            </a:r>
            <a:endParaRPr lang="en-US" sz="48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1930"/>
            <a:ext cx="5668010" cy="132016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kern="0" spc="400" dirty="0">
                <a:solidFill>
                  <a:srgbClr val="1E3D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AGENDA</a:t>
            </a:r>
            <a:endParaRPr lang="en-US" sz="3600" b="1" kern="0" spc="400" dirty="0">
              <a:solidFill>
                <a:srgbClr val="1E3D3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215390" cy="762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4" name="Text 2"/>
          <p:cNvSpPr/>
          <p:nvPr/>
        </p:nvSpPr>
        <p:spPr>
          <a:xfrm>
            <a:off x="762000" y="1716405"/>
            <a:ext cx="5101590" cy="1583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</a:t>
            </a:r>
            <a:r>
              <a:rPr lang="en-US" sz="20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Problem Statement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&amp; Research Questions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2605405"/>
            <a:ext cx="5101590" cy="1583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</a:t>
            </a:r>
            <a:r>
              <a:rPr lang="en-US" sz="20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Data Collection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&amp; Dataset Overview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3494405"/>
            <a:ext cx="5101590" cy="1583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</a:t>
            </a:r>
            <a:r>
              <a:rPr lang="en-US" sz="20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Feature Engineering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Pipeline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4383405"/>
            <a:ext cx="5101590" cy="1583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04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</a:t>
            </a:r>
            <a:r>
              <a:rPr lang="en-US" sz="20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Feature Selection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Methodology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2000" y="5272405"/>
            <a:ext cx="5101590" cy="1583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</a:t>
            </a:r>
            <a:r>
              <a:rPr lang="en-US" sz="20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Machine Learning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Models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842000" y="1716405"/>
            <a:ext cx="5101590" cy="1583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06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</a:t>
            </a:r>
            <a:r>
              <a:rPr lang="en-US" sz="20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Results: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Model Performance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842000" y="2605405"/>
            <a:ext cx="5101590" cy="1583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07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</a:t>
            </a:r>
            <a:r>
              <a:rPr lang="en-US" sz="20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Results: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Feature Importance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42000" y="3494405"/>
            <a:ext cx="5101590" cy="1583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08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</a:t>
            </a:r>
            <a:r>
              <a:rPr lang="en-US" sz="20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Results: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SHAP Analysis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842000" y="4383405"/>
            <a:ext cx="5101590" cy="1583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09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</a:t>
            </a:r>
            <a:r>
              <a:rPr lang="en-US" sz="20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Results: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Stability Analysis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842000" y="5272405"/>
            <a:ext cx="5101590" cy="1583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</a:t>
            </a:r>
            <a:r>
              <a:rPr lang="en-US" sz="20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Key Findings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&amp; Discussion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22000" y="1716405"/>
            <a:ext cx="5101590" cy="1583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11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</a:t>
            </a:r>
            <a:r>
              <a:rPr lang="en-US" sz="20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Practical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Implications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22000" y="2605405"/>
            <a:ext cx="5101590" cy="1583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12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</a:t>
            </a:r>
            <a:r>
              <a:rPr lang="en-US" sz="20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22000" y="3494405"/>
            <a:ext cx="5101590" cy="1583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13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</a:t>
            </a:r>
            <a:r>
              <a:rPr lang="en-US" sz="20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Future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Work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22000" y="4383405"/>
            <a:ext cx="5101590" cy="1583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14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</a:t>
            </a:r>
            <a:r>
              <a:rPr lang="en-US" sz="20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Contributions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&amp; Conclusion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22000" y="5272405"/>
            <a:ext cx="5101590" cy="1583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15</a:t>
            </a:r>
            <a:r>
              <a:rPr lang="en-US" sz="20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</a:t>
            </a:r>
            <a:r>
              <a:rPr lang="en-US" sz="20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Q&amp;A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62000" y="7300595"/>
            <a:ext cx="16438245" cy="76200"/>
          </a:xfrm>
          <a:prstGeom prst="rect">
            <a:avLst/>
          </a:prstGeom>
          <a:solidFill>
            <a:srgbClr val="D5D0C8"/>
          </a:solidFill>
        </p:spPr>
      </p:sp>
      <p:sp>
        <p:nvSpPr>
          <p:cNvPr id="20" name="Text 18"/>
          <p:cNvSpPr/>
          <p:nvPr/>
        </p:nvSpPr>
        <p:spPr>
          <a:xfrm>
            <a:off x="762000" y="7289800"/>
            <a:ext cx="8502650" cy="6330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6B8E7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Ibrahim Hegazi | Department of Computer Science</a:t>
            </a:r>
            <a:endParaRPr lang="en-US" sz="2000" dirty="0">
              <a:solidFill>
                <a:srgbClr val="6B8E7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240280" y="828040"/>
            <a:ext cx="5418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3" name="Shape 1"/>
          <p:cNvSpPr/>
          <p:nvPr/>
        </p:nvSpPr>
        <p:spPr>
          <a:xfrm>
            <a:off x="0" y="558800"/>
            <a:ext cx="32512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INTRODUCTION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METHODOLOGY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DISCUSSION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762000"/>
            <a:ext cx="762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1E3D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Problem Statement</a:t>
            </a:r>
            <a:endParaRPr lang="en-US" sz="3600" b="1" dirty="0">
              <a:solidFill>
                <a:srgbClr val="1E3D3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14732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The Challenge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1854200"/>
            <a:ext cx="5080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12" name="Text 10"/>
          <p:cNvSpPr/>
          <p:nvPr/>
        </p:nvSpPr>
        <p:spPr>
          <a:xfrm>
            <a:off x="762000" y="2032000"/>
            <a:ext cx="11443335" cy="20821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League of Legends matches generate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thousands of data points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across 10 players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High-dimensional, multi-entity data with complex feature interactions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Need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interpretable models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providing actionable insights beyond raw predictions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2000" y="3891280"/>
            <a:ext cx="7623810" cy="36703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Research Gaps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2000" y="4272280"/>
            <a:ext cx="1016000" cy="76200"/>
          </a:xfrm>
          <a:prstGeom prst="rect">
            <a:avLst/>
          </a:prstGeom>
          <a:solidFill>
            <a:srgbClr val="B8833E"/>
          </a:solidFill>
        </p:spPr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762000" y="4450080"/>
          <a:ext cx="14739620" cy="3939540"/>
        </p:xfrm>
        <a:graphic>
          <a:graphicData uri="http://schemas.openxmlformats.org/drawingml/2006/table">
            <a:tbl>
              <a:tblPr/>
              <a:tblGrid>
                <a:gridCol w="5601335"/>
                <a:gridCol w="9138285"/>
              </a:tblGrid>
              <a:tr h="61341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Gap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Prior Work Limitation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Role-aware features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Team-level aggregation loses position info [Chowdhury 2024]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Feature selection rigor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Single-method selection retains redundancy [Bahrololloomi 2023]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Ensemble comparison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Limited evaluation of voting/bagging [Liang 2023]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Stability validation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Single train-test splits dominate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Interpretability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Model-specific importance only [Junior &amp; Campelo 2023]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400" dirty="0">
                <a:solidFill>
                  <a:srgbClr val="6B8E7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</a:t>
            </a:r>
            <a:endParaRPr lang="en-US" sz="2400" dirty="0">
              <a:solidFill>
                <a:srgbClr val="6B8E7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3" name="Shape 1"/>
          <p:cNvSpPr/>
          <p:nvPr/>
        </p:nvSpPr>
        <p:spPr>
          <a:xfrm>
            <a:off x="0" y="558800"/>
            <a:ext cx="32512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INTRODUCTION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METHODOLOGY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DISCUSSION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762000"/>
            <a:ext cx="762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1E3D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Research Questions</a:t>
            </a:r>
            <a:endParaRPr lang="en-US" sz="3600" b="1" dirty="0">
              <a:solidFill>
                <a:srgbClr val="1E3D3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524000"/>
            <a:ext cx="14732000" cy="1651000"/>
          </a:xfrm>
          <a:prstGeom prst="rect">
            <a:avLst/>
          </a:prstGeom>
          <a:solidFill>
            <a:srgbClr val="E8E4DD"/>
          </a:solidFill>
        </p:spPr>
      </p:sp>
      <p:sp>
        <p:nvSpPr>
          <p:cNvPr id="11" name="Text 9"/>
          <p:cNvSpPr/>
          <p:nvPr/>
        </p:nvSpPr>
        <p:spPr>
          <a:xfrm>
            <a:off x="1016000" y="16510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kern="0" spc="200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PRIMARY QUESTION</a:t>
            </a:r>
            <a:endParaRPr lang="en-US" sz="2400" b="1" kern="0" spc="200" dirty="0">
              <a:solidFill>
                <a:srgbClr val="B8833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6000" y="2032000"/>
            <a:ext cx="14224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Can ML models accurately predict winning teams using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post-game player statistics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and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position-preserving feature engineering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2000" y="35560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Secondary Questions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2000" y="3937000"/>
            <a:ext cx="5080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15" name="Shape 13"/>
          <p:cNvSpPr/>
          <p:nvPr/>
        </p:nvSpPr>
        <p:spPr>
          <a:xfrm>
            <a:off x="762000" y="4191000"/>
            <a:ext cx="7048500" cy="1143000"/>
          </a:xfrm>
          <a:prstGeom prst="rect">
            <a:avLst/>
          </a:prstGeom>
          <a:solidFill>
            <a:srgbClr val="E8E4DD"/>
          </a:solidFill>
        </p:spPr>
      </p:sp>
      <p:sp>
        <p:nvSpPr>
          <p:cNvPr id="16" name="Text 14"/>
          <p:cNvSpPr/>
          <p:nvPr/>
        </p:nvSpPr>
        <p:spPr>
          <a:xfrm>
            <a:off x="1016000" y="4292600"/>
            <a:ext cx="6540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RQ2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Which features most strongly predict match outcomes?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445500" y="4191000"/>
            <a:ext cx="7048500" cy="1143000"/>
          </a:xfrm>
          <a:prstGeom prst="rect">
            <a:avLst/>
          </a:prstGeom>
          <a:solidFill>
            <a:srgbClr val="E8E4DD"/>
          </a:solidFill>
        </p:spPr>
      </p:sp>
      <p:sp>
        <p:nvSpPr>
          <p:cNvPr id="18" name="Text 16"/>
          <p:cNvSpPr/>
          <p:nvPr/>
        </p:nvSpPr>
        <p:spPr>
          <a:xfrm>
            <a:off x="8699500" y="4192905"/>
            <a:ext cx="6540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RQ3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How do different algorithms (tree-based, linear, neural) compare?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62000" y="5588000"/>
            <a:ext cx="7048500" cy="1143000"/>
          </a:xfrm>
          <a:prstGeom prst="rect">
            <a:avLst/>
          </a:prstGeom>
          <a:solidFill>
            <a:srgbClr val="E8E4DD"/>
          </a:solidFill>
        </p:spPr>
      </p:sp>
      <p:sp>
        <p:nvSpPr>
          <p:cNvPr id="20" name="Text 18"/>
          <p:cNvSpPr/>
          <p:nvPr/>
        </p:nvSpPr>
        <p:spPr>
          <a:xfrm>
            <a:off x="1016000" y="5638800"/>
            <a:ext cx="6540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RQ4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Do ensemble strategies (bagging, voting) improve performance?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445500" y="5588000"/>
            <a:ext cx="7048500" cy="1143000"/>
          </a:xfrm>
          <a:prstGeom prst="rect">
            <a:avLst/>
          </a:prstGeom>
          <a:solidFill>
            <a:srgbClr val="E8E4DD"/>
          </a:solidFill>
        </p:spPr>
      </p:sp>
      <p:sp>
        <p:nvSpPr>
          <p:cNvPr id="22" name="Text 20"/>
          <p:cNvSpPr/>
          <p:nvPr/>
        </p:nvSpPr>
        <p:spPr>
          <a:xfrm>
            <a:off x="8699500" y="5524500"/>
            <a:ext cx="6540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RQ5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How robust are models to variations in training data?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400" dirty="0">
                <a:solidFill>
                  <a:srgbClr val="6B8E7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04</a:t>
            </a:r>
            <a:endParaRPr lang="en-US" sz="2400" dirty="0">
              <a:solidFill>
                <a:srgbClr val="6B8E7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100"/>
            <a:ext cx="16256000" cy="558800"/>
          </a:xfrm>
          <a:prstGeom prst="rect">
            <a:avLst/>
          </a:prstGeom>
          <a:solidFill>
            <a:srgbClr val="1E3D3A"/>
          </a:solidFill>
        </p:spPr>
        <p:txBody>
          <a:bodyPr/>
          <a:p>
            <a:endParaRPr lang="en-GB" altLang="en-US"/>
          </a:p>
        </p:txBody>
      </p:sp>
      <p:sp>
        <p:nvSpPr>
          <p:cNvPr id="3" name="Shape 1"/>
          <p:cNvSpPr/>
          <p:nvPr/>
        </p:nvSpPr>
        <p:spPr>
          <a:xfrm>
            <a:off x="3251200" y="558800"/>
            <a:ext cx="32512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INTRODUCTION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METHODOLOGY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DISCUSSION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762000"/>
            <a:ext cx="889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1E3D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Data Collection &amp; Dataset</a:t>
            </a:r>
            <a:endParaRPr lang="en-US" sz="3200" b="1" dirty="0">
              <a:solidFill>
                <a:srgbClr val="1E3D3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1473200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Tier-Stratified Snowball Sampling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1854200"/>
            <a:ext cx="508000" cy="38100"/>
          </a:xfrm>
          <a:prstGeom prst="rect">
            <a:avLst/>
          </a:prstGeom>
          <a:solidFill>
            <a:srgbClr val="B8833E"/>
          </a:solidFill>
        </p:spPr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762000" y="2082800"/>
          <a:ext cx="8636000" cy="2540000"/>
        </p:xfrm>
        <a:graphic>
          <a:graphicData uri="http://schemas.openxmlformats.org/drawingml/2006/table">
            <a:tbl>
              <a:tblPr/>
              <a:tblGrid>
                <a:gridCol w="3022600"/>
                <a:gridCol w="2159000"/>
                <a:gridCol w="2159000"/>
                <a:gridCol w="1295400"/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Tier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Divisions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Matches / Div.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Total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Iron – Diamond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4 each (I–IV)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50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1,400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Master / GM / Challenger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1 each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200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600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Total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31 divisions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—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2,000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49530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Data Sources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62000" y="5334000"/>
            <a:ext cx="5080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15" name="Text 12"/>
          <p:cNvSpPr/>
          <p:nvPr/>
        </p:nvSpPr>
        <p:spPr>
          <a:xfrm>
            <a:off x="762000" y="5537200"/>
            <a:ext cx="8636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Riot Games Official API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Region: Europe Nordic &amp; East (EUN1)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Queue: Ranked Solo/Duo only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Two CSV outputs: Team-level (objectives, bans) + Participant-level (10 players × ~200 features)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9906000" y="2082800"/>
            <a:ext cx="5588000" cy="25400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17" name="Text 14"/>
          <p:cNvSpPr/>
          <p:nvPr/>
        </p:nvSpPr>
        <p:spPr>
          <a:xfrm>
            <a:off x="9906000" y="2286000"/>
            <a:ext cx="5588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2,000</a:t>
            </a:r>
            <a:endParaRPr lang="en-US" sz="5600" dirty="0"/>
          </a:p>
        </p:txBody>
      </p:sp>
      <p:sp>
        <p:nvSpPr>
          <p:cNvPr id="18" name="Text 15"/>
          <p:cNvSpPr/>
          <p:nvPr/>
        </p:nvSpPr>
        <p:spPr>
          <a:xfrm>
            <a:off x="9906000" y="3302000"/>
            <a:ext cx="558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Matches Collected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906000" y="3810000"/>
            <a:ext cx="5588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Across 31 divisions | 10 players per match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400" dirty="0">
                <a:solidFill>
                  <a:srgbClr val="6B8E7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3" name="Shape 1"/>
          <p:cNvSpPr/>
          <p:nvPr/>
        </p:nvSpPr>
        <p:spPr>
          <a:xfrm>
            <a:off x="3251200" y="558800"/>
            <a:ext cx="32512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INTRODUCTION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METHODOLOGY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DISCUSSION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762000"/>
            <a:ext cx="889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1E3D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Feature Engineering Pipeline</a:t>
            </a:r>
            <a:endParaRPr lang="en-US" sz="3600" b="1" dirty="0">
              <a:solidFill>
                <a:srgbClr val="1E3D3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473200"/>
            <a:ext cx="14732000" cy="6350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11" name="Text 9"/>
          <p:cNvSpPr/>
          <p:nvPr/>
        </p:nvSpPr>
        <p:spPr>
          <a:xfrm>
            <a:off x="762000" y="1473200"/>
            <a:ext cx="14732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Core Transformation:</a:t>
            </a: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10 rows per match  →  1 row per match  (preserving position info)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62000" y="2565400"/>
            <a:ext cx="457200" cy="457200"/>
          </a:xfrm>
          <a:prstGeom prst="ellipse">
            <a:avLst/>
          </a:prstGeom>
          <a:solidFill>
            <a:srgbClr val="B8833E"/>
          </a:solidFill>
        </p:spPr>
      </p:sp>
      <p:sp>
        <p:nvSpPr>
          <p:cNvPr id="13" name="Text 11"/>
          <p:cNvSpPr/>
          <p:nvPr/>
        </p:nvSpPr>
        <p:spPr>
          <a:xfrm>
            <a:off x="762000" y="2565400"/>
            <a:ext cx="457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71600" y="2413000"/>
            <a:ext cx="6223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Assign team prefixes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(T1/T2)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based on teamId ordering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62000" y="3454400"/>
            <a:ext cx="457200" cy="457200"/>
          </a:xfrm>
          <a:prstGeom prst="ellipse">
            <a:avLst/>
          </a:prstGeom>
          <a:solidFill>
            <a:srgbClr val="B8833E"/>
          </a:solidFill>
        </p:spPr>
      </p:sp>
      <p:sp>
        <p:nvSpPr>
          <p:cNvPr id="16" name="Text 14"/>
          <p:cNvSpPr/>
          <p:nvPr/>
        </p:nvSpPr>
        <p:spPr>
          <a:xfrm>
            <a:off x="762000" y="3454400"/>
            <a:ext cx="457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71600" y="3302000"/>
            <a:ext cx="6223000" cy="990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Create player identifiers: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T1_TOP, T1_JUNGLE, T2_MIDDLE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etc.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62000" y="4572000"/>
            <a:ext cx="457200" cy="457200"/>
          </a:xfrm>
          <a:prstGeom prst="ellipse">
            <a:avLst/>
          </a:prstGeom>
          <a:solidFill>
            <a:srgbClr val="B8833E"/>
          </a:solidFill>
        </p:spPr>
      </p:sp>
      <p:sp>
        <p:nvSpPr>
          <p:cNvPr id="19" name="Text 17"/>
          <p:cNvSpPr/>
          <p:nvPr/>
        </p:nvSpPr>
        <p:spPr>
          <a:xfrm>
            <a:off x="762000" y="4572000"/>
            <a:ext cx="457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71600" y="4419600"/>
            <a:ext cx="6223000" cy="990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Pivot data → Features become: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kills_T1_TOP, deaths_T2_JUNGLE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etc.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382000" y="2476500"/>
            <a:ext cx="457200" cy="457200"/>
          </a:xfrm>
          <a:prstGeom prst="ellipse">
            <a:avLst/>
          </a:prstGeom>
          <a:solidFill>
            <a:srgbClr val="B8833E"/>
          </a:solidFill>
        </p:spPr>
      </p:sp>
      <p:sp>
        <p:nvSpPr>
          <p:cNvPr id="22" name="Text 20"/>
          <p:cNvSpPr/>
          <p:nvPr/>
        </p:nvSpPr>
        <p:spPr>
          <a:xfrm>
            <a:off x="8382000" y="2476500"/>
            <a:ext cx="457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991600" y="2413000"/>
            <a:ext cx="6223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Merge team-level objective data with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T1/T2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prefixes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8382000" y="3365500"/>
            <a:ext cx="457200" cy="457200"/>
          </a:xfrm>
          <a:prstGeom prst="ellipse">
            <a:avLst/>
          </a:prstGeom>
          <a:solidFill>
            <a:srgbClr val="B8833E"/>
          </a:solidFill>
        </p:spPr>
      </p:sp>
      <p:sp>
        <p:nvSpPr>
          <p:cNvPr id="25" name="Text 23"/>
          <p:cNvSpPr/>
          <p:nvPr/>
        </p:nvSpPr>
        <p:spPr>
          <a:xfrm>
            <a:off x="8382000" y="3365500"/>
            <a:ext cx="457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991600" y="3302000"/>
            <a:ext cx="6223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Construct binary target: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T1_win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(1 = T1 victory, 0 = T2 victory)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8382000" y="5029200"/>
            <a:ext cx="7112000" cy="635000"/>
          </a:xfrm>
          <a:prstGeom prst="rect">
            <a:avLst/>
          </a:prstGeom>
          <a:solidFill>
            <a:srgbClr val="E8E4DD"/>
          </a:solidFill>
        </p:spPr>
      </p:sp>
      <p:sp>
        <p:nvSpPr>
          <p:cNvPr id="28" name="Text 26"/>
          <p:cNvSpPr/>
          <p:nvPr/>
        </p:nvSpPr>
        <p:spPr>
          <a:xfrm>
            <a:off x="8382000" y="5029200"/>
            <a:ext cx="7112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Result: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US" sz="2400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1,254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engineered features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400" dirty="0">
                <a:solidFill>
                  <a:srgbClr val="6B8E7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06</a:t>
            </a:r>
            <a:endParaRPr lang="en-US" sz="2400" dirty="0">
              <a:solidFill>
                <a:srgbClr val="6B8E7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3" name="Shape 1"/>
          <p:cNvSpPr/>
          <p:nvPr/>
        </p:nvSpPr>
        <p:spPr>
          <a:xfrm>
            <a:off x="3251200" y="558800"/>
            <a:ext cx="32512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INTRODUCTION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METHODOLOGY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DISCUSSION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762000"/>
            <a:ext cx="889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1E3D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Two-Stage Feature Selection</a:t>
            </a:r>
            <a:endParaRPr lang="en-US" sz="3600" b="1" dirty="0">
              <a:solidFill>
                <a:srgbClr val="1E3D3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473200"/>
            <a:ext cx="7048500" cy="3997960"/>
          </a:xfrm>
          <a:prstGeom prst="rect">
            <a:avLst/>
          </a:prstGeom>
          <a:solidFill>
            <a:srgbClr val="E8E4DD"/>
          </a:solidFill>
        </p:spPr>
      </p:sp>
      <p:sp>
        <p:nvSpPr>
          <p:cNvPr id="11" name="Text 9"/>
          <p:cNvSpPr/>
          <p:nvPr/>
        </p:nvSpPr>
        <p:spPr>
          <a:xfrm>
            <a:off x="1016000" y="16002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kern="0" spc="200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STAGE 1</a:t>
            </a:r>
            <a:endParaRPr lang="en-US" sz="2400" b="1" kern="0" spc="200" dirty="0">
              <a:solidFill>
                <a:srgbClr val="B8833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6000" y="1955800"/>
            <a:ext cx="65405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SULOV Correlation Analysis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16000" y="2413000"/>
            <a:ext cx="65405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Filter method: Remove highly correlated feature pairs (ρ &gt; 0.81)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Keep feature with higher target correlation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Result: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1,254 → </a:t>
            </a:r>
            <a:r>
              <a:rPr lang="en-US" sz="2400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1,050 features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(16.3% reduction)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445500" y="1473200"/>
            <a:ext cx="7048500" cy="3986530"/>
          </a:xfrm>
          <a:prstGeom prst="rect">
            <a:avLst/>
          </a:prstGeom>
          <a:solidFill>
            <a:srgbClr val="E8E4DD"/>
          </a:solidFill>
        </p:spPr>
      </p:sp>
      <p:sp>
        <p:nvSpPr>
          <p:cNvPr id="15" name="Text 13"/>
          <p:cNvSpPr/>
          <p:nvPr/>
        </p:nvSpPr>
        <p:spPr>
          <a:xfrm>
            <a:off x="8699500" y="16002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kern="0" spc="200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STAGE 2</a:t>
            </a:r>
            <a:endParaRPr lang="en-US" sz="2400" b="1" kern="0" spc="200" dirty="0">
              <a:solidFill>
                <a:srgbClr val="B8833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99500" y="1955800"/>
            <a:ext cx="65405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XGBoost Recursive Feature Elimination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99500" y="2413000"/>
            <a:ext cx="65405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Train XGBoost on standardized features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Rank by gain-based importance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Select top 15 features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Result: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1,050 → </a:t>
            </a:r>
            <a:r>
              <a:rPr lang="en-US" sz="2400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15 features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(98.5% total reduction)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62000" y="6032500"/>
            <a:ext cx="14732000" cy="12700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19" name="Text 17"/>
          <p:cNvSpPr/>
          <p:nvPr/>
        </p:nvSpPr>
        <p:spPr>
          <a:xfrm>
            <a:off x="1016000" y="61595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kern="0" spc="200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WHY TWO STAGES?</a:t>
            </a:r>
            <a:endParaRPr lang="en-US" sz="2400" b="1" kern="0" spc="200" dirty="0">
              <a:solidFill>
                <a:srgbClr val="B8833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16000" y="6540500"/>
            <a:ext cx="14224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SULOV eliminates </a:t>
            </a: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redundancy</a:t>
            </a: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; XGBoost optimizes for </a:t>
            </a: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predictive power</a:t>
            </a: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. Addresses limitations of single-method approaches in prior work.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400" dirty="0">
                <a:solidFill>
                  <a:srgbClr val="6B8E7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07</a:t>
            </a:r>
            <a:endParaRPr lang="en-US" sz="2400" dirty="0">
              <a:solidFill>
                <a:srgbClr val="6B8E7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3" name="Shape 1"/>
          <p:cNvSpPr/>
          <p:nvPr/>
        </p:nvSpPr>
        <p:spPr>
          <a:xfrm>
            <a:off x="3251200" y="558800"/>
            <a:ext cx="32512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INTRODUCTION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METHODOLOGY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DISCUSSION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762000"/>
            <a:ext cx="889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1E3D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Machine Learning Models</a:t>
            </a:r>
            <a:endParaRPr lang="en-US" sz="3600" b="1" dirty="0">
              <a:solidFill>
                <a:srgbClr val="1E3D3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62000" y="1473200"/>
          <a:ext cx="9360535" cy="3997325"/>
        </p:xfrm>
        <a:graphic>
          <a:graphicData uri="http://schemas.openxmlformats.org/drawingml/2006/table">
            <a:tbl>
              <a:tblPr/>
              <a:tblGrid>
                <a:gridCol w="3275965"/>
                <a:gridCol w="6084570"/>
              </a:tblGrid>
              <a:tr h="46545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Category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Models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</a:tr>
              <a:tr h="4654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Gradient Boosting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XGBoost, CatBoost, Gradient Boosting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4654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Bagging Ensemble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Random Forest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4654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Instance-Based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K-Nearest Neighbors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4654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Kernel Method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Support Vector Regressor (RBF)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4654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Linear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Ridge Regression (L2)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Neural Network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Multi-Layer Perceptron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73977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Ensembles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Bagging Regressor</a:t>
                      </a:r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 (10 estimators), </a:t>
                      </a:r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Voting Regressor</a:t>
                      </a:r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 (top 3)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62000" y="54610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Configuration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62000" y="5842000"/>
            <a:ext cx="5080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13" name="Text 10"/>
          <p:cNvSpPr/>
          <p:nvPr/>
        </p:nvSpPr>
        <p:spPr>
          <a:xfrm>
            <a:off x="762000" y="6045200"/>
            <a:ext cx="8636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GridSearchCV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with 5-fold CV, scoring = R²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80/20 stratified train-test split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Regression → Classification via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0.5 threshold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 evaluation metrics: R², Accuracy, MAE, RMSD, MAD, MAPD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0380345" y="1494155"/>
            <a:ext cx="5113655" cy="196088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15" name="Text 12"/>
          <p:cNvSpPr/>
          <p:nvPr/>
        </p:nvSpPr>
        <p:spPr>
          <a:xfrm>
            <a:off x="10380345" y="1609725"/>
            <a:ext cx="5113655" cy="7524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</a:t>
            </a:r>
            <a:endParaRPr lang="en-US" sz="5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380345" y="2495550"/>
            <a:ext cx="5113655" cy="501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Models Evaluated (8 individual + 2 ensembles)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0380345" y="3449955"/>
            <a:ext cx="5113655" cy="1986915"/>
          </a:xfrm>
          <a:prstGeom prst="rect">
            <a:avLst/>
          </a:prstGeom>
          <a:solidFill>
            <a:srgbClr val="E8E4DD"/>
          </a:solidFill>
        </p:spPr>
        <p:txBody>
          <a:bodyPr/>
          <a:p>
            <a:endParaRPr lang="en-GB" altLang="en-US"/>
          </a:p>
        </p:txBody>
      </p:sp>
      <p:sp>
        <p:nvSpPr>
          <p:cNvPr id="18" name="Text 15"/>
          <p:cNvSpPr/>
          <p:nvPr/>
        </p:nvSpPr>
        <p:spPr>
          <a:xfrm>
            <a:off x="10380345" y="3565525"/>
            <a:ext cx="5113655" cy="7524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4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</a:t>
            </a:r>
            <a:endParaRPr lang="en-US" sz="5400" b="1" dirty="0">
              <a:solidFill>
                <a:srgbClr val="B8833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380345" y="4451350"/>
            <a:ext cx="5113655" cy="501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Evaluation Metrics</a:t>
            </a:r>
            <a:endParaRPr lang="en-US" sz="2400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400" dirty="0">
                <a:solidFill>
                  <a:srgbClr val="6B8E7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08</a:t>
            </a:r>
            <a:endParaRPr lang="en-US" sz="2400" dirty="0">
              <a:solidFill>
                <a:srgbClr val="6B8E7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3" name="Shape 1"/>
          <p:cNvSpPr/>
          <p:nvPr/>
        </p:nvSpPr>
        <p:spPr>
          <a:xfrm>
            <a:off x="6502400" y="558800"/>
            <a:ext cx="32512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INTRODUCTION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METHODOLOGY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DISCUSSION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762000"/>
            <a:ext cx="889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1E3D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 — Model Performance</a:t>
            </a:r>
            <a:endParaRPr lang="en-US" sz="3600" b="1" dirty="0">
              <a:solidFill>
                <a:srgbClr val="1E3D3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62000" y="1473200"/>
          <a:ext cx="14735175" cy="3373120"/>
        </p:xfrm>
        <a:graphic>
          <a:graphicData uri="http://schemas.openxmlformats.org/drawingml/2006/table">
            <a:tbl>
              <a:tblPr/>
              <a:tblGrid>
                <a:gridCol w="2652395"/>
                <a:gridCol w="2652395"/>
                <a:gridCol w="2652395"/>
                <a:gridCol w="2652395"/>
                <a:gridCol w="4125595"/>
              </a:tblGrid>
              <a:tr h="4216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Model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R²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Accuracy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MAE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MAD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VotR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0.8704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95.75%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0.0773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0.0116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CatB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0.8684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96.00%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0.0890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0.0230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BagR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0.8644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95.75%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0.0896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0.0193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XGB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0.8613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95.25%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0.0872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0.0164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GradB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0.8538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94.75%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0.0661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0.0064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RF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0.8527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95.25%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0.0651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0.0000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B8833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Ridge</a:t>
                      </a:r>
                      <a:endParaRPr lang="en-US" sz="2400" b="1" dirty="0">
                        <a:solidFill>
                          <a:srgbClr val="B8833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B8833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0.7554</a:t>
                      </a:r>
                      <a:endParaRPr lang="en-US" sz="2400" dirty="0">
                        <a:solidFill>
                          <a:srgbClr val="B8833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B8833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96.50%</a:t>
                      </a:r>
                      <a:endParaRPr lang="en-US" sz="2400" b="1" dirty="0">
                        <a:solidFill>
                          <a:srgbClr val="B8833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0.1912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0.1497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400" dirty="0">
                <a:solidFill>
                  <a:srgbClr val="6B8E7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09</a:t>
            </a:r>
            <a:endParaRPr lang="en-US" sz="2400" dirty="0">
              <a:solidFill>
                <a:srgbClr val="6B8E7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pic>
        <p:nvPicPr>
          <p:cNvPr id="17" name="Picture 16" descr="model_compari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545" y="5074920"/>
            <a:ext cx="12110085" cy="38087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3" name="Shape 1"/>
          <p:cNvSpPr/>
          <p:nvPr/>
        </p:nvSpPr>
        <p:spPr>
          <a:xfrm>
            <a:off x="6502400" y="558800"/>
            <a:ext cx="32512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INTRODUCTION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METHODOLOGY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DISCUSSION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762000"/>
            <a:ext cx="889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1E3D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 — Feature Importance</a:t>
            </a:r>
            <a:endParaRPr lang="en-US" sz="3600" b="1" dirty="0">
              <a:solidFill>
                <a:srgbClr val="1E3D3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2390" y="1447800"/>
          <a:ext cx="10024745" cy="5361940"/>
        </p:xfrm>
        <a:graphic>
          <a:graphicData uri="http://schemas.openxmlformats.org/drawingml/2006/table">
            <a:tbl>
              <a:tblPr/>
              <a:tblGrid>
                <a:gridCol w="802640"/>
                <a:gridCol w="4009390"/>
                <a:gridCol w="1804035"/>
                <a:gridCol w="1704975"/>
                <a:gridCol w="1703705"/>
              </a:tblGrid>
              <a:tr h="96075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Rank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Feature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Importance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Category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Role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1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turretsLost_T2_TOP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0.1694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Structure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TOP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2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turretsLost_T1_UTILITY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0.1013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Structure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SUPPORT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9594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3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perk_primary_rune_1_var1_T1_UTILITY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0.0354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Rune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SUPPORT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...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...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...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...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...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14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deaths_T1_JUNGLE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0.0120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Combat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JUNGLE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9607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15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turretTakedowns_T1_MIDDLE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0.0114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Structure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MIDDLE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10287000" y="14732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Category Distribution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0" name="Shape 9"/>
          <p:cNvSpPr/>
          <p:nvPr/>
        </p:nvSpPr>
        <p:spPr>
          <a:xfrm>
            <a:off x="10287000" y="1854200"/>
            <a:ext cx="508000" cy="38100"/>
          </a:xfrm>
          <a:prstGeom prst="rect">
            <a:avLst/>
          </a:prstGeom>
          <a:solidFill>
            <a:srgbClr val="B8833E"/>
          </a:solidFill>
        </p:spPr>
      </p:sp>
      <p:graphicFrame>
        <p:nvGraphicFramePr>
          <p:cNvPr id="13" name="Chart 0"/>
          <p:cNvGraphicFramePr/>
          <p:nvPr/>
        </p:nvGraphicFramePr>
        <p:xfrm>
          <a:off x="9652000" y="1943100"/>
          <a:ext cx="6380480" cy="4090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" name="Shape 10"/>
          <p:cNvSpPr/>
          <p:nvPr/>
        </p:nvSpPr>
        <p:spPr>
          <a:xfrm>
            <a:off x="762000" y="7682230"/>
            <a:ext cx="14732000" cy="5588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15" name="Text 11"/>
          <p:cNvSpPr/>
          <p:nvPr/>
        </p:nvSpPr>
        <p:spPr>
          <a:xfrm>
            <a:off x="1016000" y="7682230"/>
            <a:ext cx="142240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Notable Absence:</a:t>
            </a: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Kills, damage dealt, gold earned → </a:t>
            </a:r>
            <a:r>
              <a:rPr lang="en-US" sz="2400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NOT in top 15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400" dirty="0">
                <a:solidFill>
                  <a:srgbClr val="6B8E7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</a:t>
            </a:r>
            <a:endParaRPr lang="en-US" sz="2400" dirty="0">
              <a:solidFill>
                <a:srgbClr val="6B8E7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3" name="Shape 1"/>
          <p:cNvSpPr/>
          <p:nvPr/>
        </p:nvSpPr>
        <p:spPr>
          <a:xfrm>
            <a:off x="6502400" y="558800"/>
            <a:ext cx="32512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INTRODUCTION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METHODOLOGY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DISCUSSION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762000"/>
            <a:ext cx="889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1E3D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SHAP Analysis — Key Findings</a:t>
            </a:r>
            <a:endParaRPr lang="en-US" sz="3600" b="1" dirty="0">
              <a:solidFill>
                <a:srgbClr val="1E3D3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14732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2400" b="1" kern="0" spc="200" dirty="0">
              <a:solidFill>
                <a:srgbClr val="B8833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2000" y="19050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Top SHAP Features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2000" y="2286000"/>
            <a:ext cx="5080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14" name="Text 11"/>
          <p:cNvSpPr/>
          <p:nvPr/>
        </p:nvSpPr>
        <p:spPr>
          <a:xfrm>
            <a:off x="8382000" y="19050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What is SHAP Analysis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382000" y="2286000"/>
            <a:ext cx="5080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16" name="Text 13"/>
          <p:cNvSpPr/>
          <p:nvPr/>
        </p:nvSpPr>
        <p:spPr>
          <a:xfrm>
            <a:off x="8382000" y="2489200"/>
            <a:ext cx="7112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GB" sz="2400" dirty="0"/>
              <a:t>A game-theory-based method that tells you exactly how much each feature contributed to a specific prediction</a:t>
            </a:r>
            <a:endParaRPr lang="en-US" altLang="en-GB" sz="2400" dirty="0"/>
          </a:p>
        </p:txBody>
      </p:sp>
      <p:pic>
        <p:nvPicPr>
          <p:cNvPr id="22" name="Picture 21" descr="shap_feature_importa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615" y="2461895"/>
            <a:ext cx="7729855" cy="6518910"/>
          </a:xfrm>
          <a:prstGeom prst="rect">
            <a:avLst/>
          </a:prstGeom>
        </p:spPr>
      </p:pic>
      <p:sp>
        <p:nvSpPr>
          <p:cNvPr id="23" name="Text Box 22"/>
          <p:cNvSpPr txBox="1"/>
          <p:nvPr/>
        </p:nvSpPr>
        <p:spPr>
          <a:xfrm>
            <a:off x="5588000" y="44034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0" i="0">
                <a:solidFill>
                  <a:srgbClr val="F9FAFB"/>
                </a:solidFill>
                <a:latin typeface="quote-cjk-patch"/>
                <a:ea typeface="quote-cjk-patch"/>
              </a:rPr>
              <a:t>GridSearchCV</a:t>
            </a:r>
            <a:endParaRPr lang="en-US" altLang="zh-CN" sz="1600" b="0" i="0">
              <a:solidFill>
                <a:srgbClr val="F9FAFB"/>
              </a:solidFill>
              <a:latin typeface="quote-cjk-patch"/>
              <a:ea typeface="quote-cjk-patch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400" dirty="0">
                <a:solidFill>
                  <a:srgbClr val="6B8E7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11</a:t>
            </a:r>
            <a:endParaRPr lang="en-US" sz="2400" dirty="0">
              <a:solidFill>
                <a:srgbClr val="6B8E7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3" name="Shape 1"/>
          <p:cNvSpPr/>
          <p:nvPr/>
        </p:nvSpPr>
        <p:spPr>
          <a:xfrm>
            <a:off x="6502400" y="558800"/>
            <a:ext cx="32512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INTRODUCTION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METHODOLOGY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DISCUSSION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762000"/>
            <a:ext cx="889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1E3D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Stability Analysis (100 Iterations)</a:t>
            </a:r>
            <a:endParaRPr lang="en-US" sz="3600" b="1" dirty="0">
              <a:solidFill>
                <a:srgbClr val="1E3D3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762000" y="1473200"/>
          <a:ext cx="9144000" cy="26670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377440"/>
                <a:gridCol w="237744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Metric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CatBoost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XGBoost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Grad. Boosting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Accuracy (%)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95.52 ± 0.97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95.07 ± 1.01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95.31 ± 1.04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R²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0.8632 ± 0.0192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0.8599 ± 0.0203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0.8630 ± 0.0242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MAE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0.0907 ± 0.0072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0.0883 ± 0.0071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0.0698 ± 0.0074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MAD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0.0221 ± 0.0022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0.0159 ± 0.0023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0.0061 ± 0.0012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62000" y="44450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Key Takeaways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62000" y="4826000"/>
            <a:ext cx="5080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13" name="Text 10"/>
          <p:cNvSpPr/>
          <p:nvPr/>
        </p:nvSpPr>
        <p:spPr>
          <a:xfrm>
            <a:off x="762000" y="5029200"/>
            <a:ext cx="9144000" cy="177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CatBoost: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Most stable (lowest σ for Accuracy &amp; R²)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Gradient Boosting: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Best calibration (lowest MAE &amp; MAD)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All models: Performance variation within ~1% accuracy, ~0.02 R²</a:t>
            </a:r>
            <a:endParaRPr lang="en-US" sz="2400" dirty="0"/>
          </a:p>
        </p:txBody>
      </p:sp>
      <p:sp>
        <p:nvSpPr>
          <p:cNvPr id="10" name="Text 11"/>
          <p:cNvSpPr/>
          <p:nvPr/>
        </p:nvSpPr>
        <p:spPr>
          <a:xfrm>
            <a:off x="10055225" y="56388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Deployment Guidance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055225" y="6019800"/>
            <a:ext cx="508000" cy="38100"/>
          </a:xfrm>
          <a:prstGeom prst="rect">
            <a:avLst/>
          </a:prstGeom>
          <a:solidFill>
            <a:srgbClr val="B8833E"/>
          </a:solidFill>
        </p:spPr>
      </p:sp>
      <p:graphicFrame>
        <p:nvGraphicFramePr>
          <p:cNvPr id="27" name="Table 1"/>
          <p:cNvGraphicFramePr>
            <a:graphicFrameLocks noGrp="1"/>
          </p:cNvGraphicFramePr>
          <p:nvPr/>
        </p:nvGraphicFramePr>
        <p:xfrm>
          <a:off x="10055225" y="6248400"/>
          <a:ext cx="5207000" cy="2032000"/>
        </p:xfrm>
        <a:graphic>
          <a:graphicData uri="http://schemas.openxmlformats.org/drawingml/2006/table">
            <a:tbl>
              <a:tblPr/>
              <a:tblGrid>
                <a:gridCol w="2863850"/>
                <a:gridCol w="2343150"/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Priority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Model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Reliable classification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CatBoost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Accurate probabilities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Grad. Boosting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Simple &amp; fast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Ridge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400" dirty="0">
                <a:solidFill>
                  <a:srgbClr val="6B8E7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12</a:t>
            </a:r>
            <a:endParaRPr lang="en-US" sz="2400" dirty="0">
              <a:solidFill>
                <a:srgbClr val="6B8E7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3" name="Shape 1"/>
          <p:cNvSpPr/>
          <p:nvPr/>
        </p:nvSpPr>
        <p:spPr>
          <a:xfrm>
            <a:off x="9753600" y="558800"/>
            <a:ext cx="32512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INTRODUCTION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METHODOLOGY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DISCUSSION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762000"/>
            <a:ext cx="889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1E3D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Key Findings &amp; Discussion</a:t>
            </a:r>
            <a:endParaRPr lang="en-US" sz="3600" b="1" dirty="0">
              <a:solidFill>
                <a:srgbClr val="1E3D3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406400" cy="406400"/>
          </a:xfrm>
          <a:prstGeom prst="ellipse">
            <a:avLst/>
          </a:prstGeom>
          <a:solidFill>
            <a:srgbClr val="B8833E"/>
          </a:solidFill>
        </p:spPr>
      </p:sp>
      <p:sp>
        <p:nvSpPr>
          <p:cNvPr id="11" name="Text 9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4064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3"/>
            </p:custDataLst>
          </p:nvPr>
        </p:nvSpPr>
        <p:spPr>
          <a:xfrm>
            <a:off x="1320800" y="1524000"/>
            <a:ext cx="635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Structures &gt; Kills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3" name="Text 11"/>
          <p:cNvSpPr/>
          <p:nvPr>
            <p:custDataLst>
              <p:tags r:id="rId4"/>
            </p:custDataLst>
          </p:nvPr>
        </p:nvSpPr>
        <p:spPr>
          <a:xfrm>
            <a:off x="1320800" y="1981200"/>
            <a:ext cx="141732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Turret losses dominate prediction (SHAP impact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10× larger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than combat features). Validates Riot's objective-based game design.</a:t>
            </a:r>
            <a:endParaRPr lang="en-US" sz="2400" dirty="0"/>
          </a:p>
        </p:txBody>
      </p:sp>
      <p:sp>
        <p:nvSpPr>
          <p:cNvPr id="14" name="Shape 12"/>
          <p:cNvSpPr/>
          <p:nvPr>
            <p:custDataLst>
              <p:tags r:id="rId5"/>
            </p:custDataLst>
          </p:nvPr>
        </p:nvSpPr>
        <p:spPr>
          <a:xfrm>
            <a:off x="762000" y="3200400"/>
            <a:ext cx="406400" cy="406400"/>
          </a:xfrm>
          <a:prstGeom prst="ellipse">
            <a:avLst/>
          </a:prstGeom>
          <a:solidFill>
            <a:srgbClr val="B8833E"/>
          </a:solidFill>
        </p:spPr>
      </p:sp>
      <p:sp>
        <p:nvSpPr>
          <p:cNvPr id="15" name="Text 13"/>
          <p:cNvSpPr/>
          <p:nvPr>
            <p:custDataLst>
              <p:tags r:id="rId6"/>
            </p:custDataLst>
          </p:nvPr>
        </p:nvSpPr>
        <p:spPr>
          <a:xfrm>
            <a:off x="762000" y="3200400"/>
            <a:ext cx="4064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7"/>
            </p:custDataLst>
          </p:nvPr>
        </p:nvSpPr>
        <p:spPr>
          <a:xfrm>
            <a:off x="1320800" y="3200400"/>
            <a:ext cx="635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Jungler Deaths Matter Most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8"/>
            </p:custDataLst>
          </p:nvPr>
        </p:nvSpPr>
        <p:spPr>
          <a:xfrm>
            <a:off x="1320800" y="3657600"/>
            <a:ext cx="141732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Only combat stat in top 15 — cascading impact on objectives, map control, and resources.</a:t>
            </a:r>
            <a:endParaRPr lang="en-US" sz="2400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8" name="Shape 16"/>
          <p:cNvSpPr/>
          <p:nvPr>
            <p:custDataLst>
              <p:tags r:id="rId9"/>
            </p:custDataLst>
          </p:nvPr>
        </p:nvSpPr>
        <p:spPr>
          <a:xfrm>
            <a:off x="762000" y="4470400"/>
            <a:ext cx="406400" cy="406400"/>
          </a:xfrm>
          <a:prstGeom prst="ellipse">
            <a:avLst/>
          </a:prstGeom>
          <a:solidFill>
            <a:srgbClr val="B8833E"/>
          </a:solidFill>
        </p:spPr>
      </p:sp>
      <p:sp>
        <p:nvSpPr>
          <p:cNvPr id="19" name="Text 17"/>
          <p:cNvSpPr/>
          <p:nvPr>
            <p:custDataLst>
              <p:tags r:id="rId10"/>
            </p:custDataLst>
          </p:nvPr>
        </p:nvSpPr>
        <p:spPr>
          <a:xfrm>
            <a:off x="762000" y="4470400"/>
            <a:ext cx="4064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1"/>
            </p:custDataLst>
          </p:nvPr>
        </p:nvSpPr>
        <p:spPr>
          <a:xfrm>
            <a:off x="1320800" y="4470400"/>
            <a:ext cx="635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Runes as Strategic Signals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1320800" y="4927600"/>
            <a:ext cx="141732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 of 15 features are rune configurations — pre-game choices signal playstyle and meta awareness.</a:t>
            </a:r>
            <a:endParaRPr lang="en-US" sz="2400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2" name="Shape 20"/>
          <p:cNvSpPr/>
          <p:nvPr>
            <p:custDataLst>
              <p:tags r:id="rId13"/>
            </p:custDataLst>
          </p:nvPr>
        </p:nvSpPr>
        <p:spPr>
          <a:xfrm>
            <a:off x="762000" y="5740400"/>
            <a:ext cx="406400" cy="406400"/>
          </a:xfrm>
          <a:prstGeom prst="ellipse">
            <a:avLst/>
          </a:prstGeom>
          <a:solidFill>
            <a:srgbClr val="B8833E"/>
          </a:solidFill>
        </p:spPr>
      </p:sp>
      <p:sp>
        <p:nvSpPr>
          <p:cNvPr id="23" name="Text 21"/>
          <p:cNvSpPr/>
          <p:nvPr>
            <p:custDataLst>
              <p:tags r:id="rId14"/>
            </p:custDataLst>
          </p:nvPr>
        </p:nvSpPr>
        <p:spPr>
          <a:xfrm>
            <a:off x="762000" y="5740400"/>
            <a:ext cx="4064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4" name="Text 22"/>
          <p:cNvSpPr/>
          <p:nvPr>
            <p:custDataLst>
              <p:tags r:id="rId15"/>
            </p:custDataLst>
          </p:nvPr>
        </p:nvSpPr>
        <p:spPr>
          <a:xfrm>
            <a:off x="1320800" y="5740400"/>
            <a:ext cx="762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The "Missing" Offensive Stats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5" name="Text 23"/>
          <p:cNvSpPr/>
          <p:nvPr>
            <p:custDataLst>
              <p:tags r:id="rId16"/>
            </p:custDataLst>
          </p:nvPr>
        </p:nvSpPr>
        <p:spPr>
          <a:xfrm>
            <a:off x="1320800" y="6197600"/>
            <a:ext cx="141732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Kills, damage dealt, gold earned are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NOT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top predictors. Preventing negative outcomes &gt; achieving positive outcomes.</a:t>
            </a:r>
            <a:endParaRPr lang="en-US" sz="2400" dirty="0"/>
          </a:p>
        </p:txBody>
      </p:sp>
      <p:sp>
        <p:nvSpPr>
          <p:cNvPr id="26" name="Shape 24"/>
          <p:cNvSpPr/>
          <p:nvPr>
            <p:custDataLst>
              <p:tags r:id="rId17"/>
            </p:custDataLst>
          </p:nvPr>
        </p:nvSpPr>
        <p:spPr>
          <a:xfrm>
            <a:off x="762000" y="7315200"/>
            <a:ext cx="406400" cy="406400"/>
          </a:xfrm>
          <a:prstGeom prst="ellipse">
            <a:avLst/>
          </a:prstGeom>
          <a:solidFill>
            <a:srgbClr val="B8833E"/>
          </a:solidFill>
        </p:spPr>
      </p:sp>
      <p:sp>
        <p:nvSpPr>
          <p:cNvPr id="27" name="Text 25"/>
          <p:cNvSpPr/>
          <p:nvPr>
            <p:custDataLst>
              <p:tags r:id="rId18"/>
            </p:custDataLst>
          </p:nvPr>
        </p:nvSpPr>
        <p:spPr>
          <a:xfrm>
            <a:off x="762000" y="7315200"/>
            <a:ext cx="4064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8" name="Text 26"/>
          <p:cNvSpPr/>
          <p:nvPr>
            <p:custDataLst>
              <p:tags r:id="rId19"/>
            </p:custDataLst>
          </p:nvPr>
        </p:nvSpPr>
        <p:spPr>
          <a:xfrm>
            <a:off x="1320800" y="7315200"/>
            <a:ext cx="635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Ensemble Benefit is Modest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9" name="Text 27"/>
          <p:cNvSpPr/>
          <p:nvPr>
            <p:custDataLst>
              <p:tags r:id="rId20"/>
            </p:custDataLst>
          </p:nvPr>
        </p:nvSpPr>
        <p:spPr>
          <a:xfrm>
            <a:off x="1320800" y="7772400"/>
            <a:ext cx="141732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VotR improves R² by only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0.002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over CatBoost. CatBoost alone offers near-ensemble performance.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400" dirty="0">
                <a:solidFill>
                  <a:srgbClr val="6B8E7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13</a:t>
            </a:r>
            <a:endParaRPr lang="en-US" sz="2400" dirty="0">
              <a:solidFill>
                <a:srgbClr val="6B8E7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3" name="Shape 1"/>
          <p:cNvSpPr/>
          <p:nvPr/>
        </p:nvSpPr>
        <p:spPr>
          <a:xfrm>
            <a:off x="9753600" y="558800"/>
            <a:ext cx="32512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INTRODUCTION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METHODOLOGY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DISCUSSION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762000"/>
            <a:ext cx="889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1E3D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Practical Implications</a:t>
            </a:r>
            <a:endParaRPr lang="en-US" sz="3600" b="1" dirty="0">
              <a:solidFill>
                <a:srgbClr val="1E3D3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473200"/>
            <a:ext cx="4699000" cy="4853305"/>
          </a:xfrm>
          <a:prstGeom prst="rect">
            <a:avLst/>
          </a:prstGeom>
          <a:solidFill>
            <a:srgbClr val="E8E4DD"/>
          </a:solidFill>
        </p:spPr>
      </p:sp>
      <p:sp>
        <p:nvSpPr>
          <p:cNvPr id="11" name="Shape 9"/>
          <p:cNvSpPr/>
          <p:nvPr/>
        </p:nvSpPr>
        <p:spPr>
          <a:xfrm>
            <a:off x="10160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8920" y="44450"/>
                </a:moveTo>
                <a:cubicBezTo>
                  <a:pt x="307816" y="44450"/>
                  <a:pt x="355600" y="104180"/>
                  <a:pt x="355600" y="177800"/>
                </a:cubicBezTo>
                <a:cubicBezTo>
                  <a:pt x="355600" y="251420"/>
                  <a:pt x="307816" y="311150"/>
                  <a:pt x="248920" y="311150"/>
                </a:cubicBezTo>
                <a:lnTo>
                  <a:pt x="106680" y="311150"/>
                </a:lnTo>
                <a:cubicBezTo>
                  <a:pt x="47784" y="311150"/>
                  <a:pt x="0" y="251420"/>
                  <a:pt x="0" y="177800"/>
                </a:cubicBezTo>
                <a:cubicBezTo>
                  <a:pt x="0" y="104180"/>
                  <a:pt x="47784" y="44450"/>
                  <a:pt x="106680" y="44450"/>
                </a:cubicBezTo>
                <a:lnTo>
                  <a:pt x="248920" y="44450"/>
                </a:lnTo>
                <a:close/>
                <a:moveTo>
                  <a:pt x="106680" y="122238"/>
                </a:moveTo>
                <a:cubicBezTo>
                  <a:pt x="99290" y="122238"/>
                  <a:pt x="93345" y="129669"/>
                  <a:pt x="93345" y="138906"/>
                </a:cubicBezTo>
                <a:lnTo>
                  <a:pt x="93345" y="161131"/>
                </a:lnTo>
                <a:lnTo>
                  <a:pt x="75565" y="161131"/>
                </a:lnTo>
                <a:cubicBezTo>
                  <a:pt x="68175" y="161131"/>
                  <a:pt x="62230" y="168563"/>
                  <a:pt x="62230" y="177800"/>
                </a:cubicBezTo>
                <a:cubicBezTo>
                  <a:pt x="62230" y="187037"/>
                  <a:pt x="68175" y="194469"/>
                  <a:pt x="75565" y="194469"/>
                </a:cubicBezTo>
                <a:lnTo>
                  <a:pt x="93345" y="194469"/>
                </a:lnTo>
                <a:lnTo>
                  <a:pt x="93345" y="216694"/>
                </a:lnTo>
                <a:cubicBezTo>
                  <a:pt x="93345" y="225931"/>
                  <a:pt x="99290" y="233363"/>
                  <a:pt x="106680" y="233363"/>
                </a:cubicBezTo>
                <a:cubicBezTo>
                  <a:pt x="114070" y="233363"/>
                  <a:pt x="120015" y="225931"/>
                  <a:pt x="120015" y="216694"/>
                </a:cubicBezTo>
                <a:lnTo>
                  <a:pt x="120015" y="194469"/>
                </a:lnTo>
                <a:lnTo>
                  <a:pt x="137795" y="194469"/>
                </a:lnTo>
                <a:cubicBezTo>
                  <a:pt x="145185" y="194469"/>
                  <a:pt x="151130" y="187037"/>
                  <a:pt x="151130" y="177800"/>
                </a:cubicBezTo>
                <a:cubicBezTo>
                  <a:pt x="151130" y="168563"/>
                  <a:pt x="145185" y="161131"/>
                  <a:pt x="137795" y="161131"/>
                </a:cubicBezTo>
                <a:lnTo>
                  <a:pt x="120015" y="161131"/>
                </a:lnTo>
                <a:lnTo>
                  <a:pt x="120015" y="138906"/>
                </a:lnTo>
                <a:cubicBezTo>
                  <a:pt x="120015" y="129669"/>
                  <a:pt x="114070" y="122238"/>
                  <a:pt x="106680" y="122238"/>
                </a:cubicBezTo>
                <a:close/>
                <a:moveTo>
                  <a:pt x="240030" y="188913"/>
                </a:moveTo>
                <a:cubicBezTo>
                  <a:pt x="230217" y="188913"/>
                  <a:pt x="222250" y="198871"/>
                  <a:pt x="222250" y="211138"/>
                </a:cubicBezTo>
                <a:cubicBezTo>
                  <a:pt x="222250" y="223404"/>
                  <a:pt x="230217" y="233363"/>
                  <a:pt x="240030" y="233363"/>
                </a:cubicBezTo>
                <a:cubicBezTo>
                  <a:pt x="249843" y="233363"/>
                  <a:pt x="257810" y="223404"/>
                  <a:pt x="257810" y="211138"/>
                </a:cubicBezTo>
                <a:cubicBezTo>
                  <a:pt x="257810" y="198871"/>
                  <a:pt x="249843" y="188913"/>
                  <a:pt x="240030" y="188913"/>
                </a:cubicBezTo>
                <a:close/>
                <a:moveTo>
                  <a:pt x="275590" y="122238"/>
                </a:moveTo>
                <a:cubicBezTo>
                  <a:pt x="265777" y="122238"/>
                  <a:pt x="257810" y="132196"/>
                  <a:pt x="257810" y="144463"/>
                </a:cubicBezTo>
                <a:cubicBezTo>
                  <a:pt x="257810" y="156729"/>
                  <a:pt x="265777" y="166688"/>
                  <a:pt x="275590" y="166688"/>
                </a:cubicBezTo>
                <a:cubicBezTo>
                  <a:pt x="285403" y="166688"/>
                  <a:pt x="293370" y="156729"/>
                  <a:pt x="293370" y="144463"/>
                </a:cubicBezTo>
                <a:cubicBezTo>
                  <a:pt x="293370" y="132196"/>
                  <a:pt x="285403" y="122238"/>
                  <a:pt x="275590" y="122238"/>
                </a:cubicBezTo>
                <a:close/>
              </a:path>
            </a:pathLst>
          </a:custGeom>
          <a:solidFill>
            <a:srgbClr val="B8833E"/>
          </a:solidFill>
        </p:spPr>
      </p:sp>
      <p:sp>
        <p:nvSpPr>
          <p:cNvPr id="12" name="Text 10"/>
          <p:cNvSpPr/>
          <p:nvPr/>
        </p:nvSpPr>
        <p:spPr>
          <a:xfrm>
            <a:off x="1498600" y="1651000"/>
            <a:ext cx="355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For Players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16000" y="2159000"/>
            <a:ext cx="4191000" cy="266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Protect turrets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highest impact on win probability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Keep Jungler alive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most predictive combat metric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Don't obsess over KDA — kills don't predict wins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778500" y="1473200"/>
            <a:ext cx="4699000" cy="4850130"/>
          </a:xfrm>
          <a:prstGeom prst="rect">
            <a:avLst/>
          </a:prstGeom>
          <a:solidFill>
            <a:srgbClr val="E8E4DD"/>
          </a:solidFill>
        </p:spPr>
      </p:sp>
      <p:sp>
        <p:nvSpPr>
          <p:cNvPr id="15" name="Shape 13"/>
          <p:cNvSpPr/>
          <p:nvPr/>
        </p:nvSpPr>
        <p:spPr>
          <a:xfrm>
            <a:off x="60325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369" y="22225"/>
                </a:moveTo>
                <a:lnTo>
                  <a:pt x="296333" y="22225"/>
                </a:lnTo>
                <a:cubicBezTo>
                  <a:pt x="329023" y="22225"/>
                  <a:pt x="355600" y="42158"/>
                  <a:pt x="355600" y="66675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66675"/>
                </a:lnTo>
                <a:cubicBezTo>
                  <a:pt x="0" y="42158"/>
                  <a:pt x="26577" y="22225"/>
                  <a:pt x="59267" y="22225"/>
                </a:cubicBezTo>
                <a:lnTo>
                  <a:pt x="67231" y="22225"/>
                </a:lnTo>
                <a:cubicBezTo>
                  <a:pt x="77417" y="8959"/>
                  <a:pt x="96586" y="0"/>
                  <a:pt x="118533" y="0"/>
                </a:cubicBezTo>
                <a:lnTo>
                  <a:pt x="237067" y="0"/>
                </a:lnTo>
                <a:cubicBezTo>
                  <a:pt x="259014" y="0"/>
                  <a:pt x="278183" y="8959"/>
                  <a:pt x="288369" y="22225"/>
                </a:cubicBezTo>
                <a:close/>
                <a:moveTo>
                  <a:pt x="229658" y="77788"/>
                </a:moveTo>
                <a:cubicBezTo>
                  <a:pt x="241975" y="77788"/>
                  <a:pt x="251883" y="70356"/>
                  <a:pt x="251883" y="61119"/>
                </a:cubicBezTo>
                <a:cubicBezTo>
                  <a:pt x="251883" y="51881"/>
                  <a:pt x="241975" y="44450"/>
                  <a:pt x="229658" y="44450"/>
                </a:cubicBezTo>
                <a:lnTo>
                  <a:pt x="125942" y="44450"/>
                </a:lnTo>
                <a:cubicBezTo>
                  <a:pt x="113625" y="44450"/>
                  <a:pt x="103717" y="51881"/>
                  <a:pt x="103717" y="61119"/>
                </a:cubicBezTo>
                <a:cubicBezTo>
                  <a:pt x="103717" y="70356"/>
                  <a:pt x="113625" y="77788"/>
                  <a:pt x="125942" y="77788"/>
                </a:cubicBezTo>
                <a:lnTo>
                  <a:pt x="229658" y="77788"/>
                </a:lnTo>
                <a:close/>
                <a:moveTo>
                  <a:pt x="118533" y="177800"/>
                </a:moveTo>
                <a:cubicBezTo>
                  <a:pt x="118533" y="165534"/>
                  <a:pt x="105255" y="155575"/>
                  <a:pt x="88900" y="155575"/>
                </a:cubicBezTo>
                <a:cubicBezTo>
                  <a:pt x="72545" y="155575"/>
                  <a:pt x="59267" y="165534"/>
                  <a:pt x="59267" y="177800"/>
                </a:cubicBezTo>
                <a:cubicBezTo>
                  <a:pt x="59267" y="190066"/>
                  <a:pt x="72545" y="200025"/>
                  <a:pt x="88900" y="200025"/>
                </a:cubicBezTo>
                <a:cubicBezTo>
                  <a:pt x="105255" y="200025"/>
                  <a:pt x="118533" y="190066"/>
                  <a:pt x="118533" y="177800"/>
                </a:cubicBezTo>
                <a:close/>
                <a:moveTo>
                  <a:pt x="148167" y="177800"/>
                </a:moveTo>
                <a:cubicBezTo>
                  <a:pt x="148167" y="187037"/>
                  <a:pt x="158075" y="194469"/>
                  <a:pt x="170392" y="194469"/>
                </a:cubicBezTo>
                <a:lnTo>
                  <a:pt x="274108" y="194469"/>
                </a:lnTo>
                <a:cubicBezTo>
                  <a:pt x="286425" y="194469"/>
                  <a:pt x="296333" y="187037"/>
                  <a:pt x="296333" y="177800"/>
                </a:cubicBezTo>
                <a:cubicBezTo>
                  <a:pt x="296333" y="168563"/>
                  <a:pt x="286425" y="161131"/>
                  <a:pt x="274108" y="161131"/>
                </a:cubicBezTo>
                <a:lnTo>
                  <a:pt x="170392" y="161131"/>
                </a:lnTo>
                <a:cubicBezTo>
                  <a:pt x="158075" y="161131"/>
                  <a:pt x="148167" y="168563"/>
                  <a:pt x="148167" y="177800"/>
                </a:cubicBezTo>
                <a:close/>
                <a:moveTo>
                  <a:pt x="148167" y="266700"/>
                </a:moveTo>
                <a:cubicBezTo>
                  <a:pt x="148167" y="275937"/>
                  <a:pt x="158075" y="283369"/>
                  <a:pt x="170392" y="283369"/>
                </a:cubicBezTo>
                <a:lnTo>
                  <a:pt x="274108" y="283369"/>
                </a:lnTo>
                <a:cubicBezTo>
                  <a:pt x="286425" y="283369"/>
                  <a:pt x="296333" y="275937"/>
                  <a:pt x="296333" y="266700"/>
                </a:cubicBezTo>
                <a:cubicBezTo>
                  <a:pt x="296333" y="257463"/>
                  <a:pt x="286425" y="250031"/>
                  <a:pt x="274108" y="250031"/>
                </a:cubicBezTo>
                <a:lnTo>
                  <a:pt x="170392" y="250031"/>
                </a:lnTo>
                <a:cubicBezTo>
                  <a:pt x="158075" y="250031"/>
                  <a:pt x="148167" y="257463"/>
                  <a:pt x="148167" y="266700"/>
                </a:cubicBezTo>
                <a:close/>
                <a:moveTo>
                  <a:pt x="88900" y="288925"/>
                </a:moveTo>
                <a:cubicBezTo>
                  <a:pt x="105255" y="288925"/>
                  <a:pt x="118533" y="278966"/>
                  <a:pt x="118533" y="266700"/>
                </a:cubicBezTo>
                <a:cubicBezTo>
                  <a:pt x="118533" y="254434"/>
                  <a:pt x="105255" y="244475"/>
                  <a:pt x="88900" y="244475"/>
                </a:cubicBezTo>
                <a:cubicBezTo>
                  <a:pt x="72545" y="244475"/>
                  <a:pt x="59267" y="254434"/>
                  <a:pt x="59267" y="266700"/>
                </a:cubicBezTo>
                <a:cubicBezTo>
                  <a:pt x="59267" y="278966"/>
                  <a:pt x="72545" y="288925"/>
                  <a:pt x="88900" y="288925"/>
                </a:cubicBezTo>
                <a:close/>
              </a:path>
            </a:pathLst>
          </a:custGeom>
          <a:solidFill>
            <a:srgbClr val="B8833E"/>
          </a:solidFill>
        </p:spPr>
      </p:sp>
      <p:sp>
        <p:nvSpPr>
          <p:cNvPr id="16" name="Text 14"/>
          <p:cNvSpPr/>
          <p:nvPr/>
        </p:nvSpPr>
        <p:spPr>
          <a:xfrm>
            <a:off x="6515100" y="1651000"/>
            <a:ext cx="355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For Coaches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32500" y="2159000"/>
            <a:ext cx="4191000" cy="266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Evaluate Support via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structure metrics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not combat stats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Prioritize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Herald control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→ direct structure damage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Track Jungler death patterns as KPI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795000" y="1473200"/>
            <a:ext cx="4699000" cy="4832985"/>
          </a:xfrm>
          <a:prstGeom prst="rect">
            <a:avLst/>
          </a:prstGeom>
          <a:solidFill>
            <a:srgbClr val="E8E4DD"/>
          </a:solidFill>
        </p:spPr>
      </p:sp>
      <p:sp>
        <p:nvSpPr>
          <p:cNvPr id="19" name="Shape 17"/>
          <p:cNvSpPr/>
          <p:nvPr/>
        </p:nvSpPr>
        <p:spPr>
          <a:xfrm>
            <a:off x="110490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8600" y="0"/>
                </a:moveTo>
                <a:lnTo>
                  <a:pt x="101600" y="0"/>
                </a:lnTo>
                <a:cubicBezTo>
                  <a:pt x="87551" y="0"/>
                  <a:pt x="76200" y="9932"/>
                  <a:pt x="76200" y="22225"/>
                </a:cubicBezTo>
                <a:cubicBezTo>
                  <a:pt x="76200" y="34518"/>
                  <a:pt x="87551" y="44450"/>
                  <a:pt x="101600" y="44450"/>
                </a:cubicBezTo>
                <a:lnTo>
                  <a:pt x="101600" y="149671"/>
                </a:lnTo>
                <a:lnTo>
                  <a:pt x="5953" y="296079"/>
                </a:lnTo>
                <a:cubicBezTo>
                  <a:pt x="2064" y="302121"/>
                  <a:pt x="0" y="308858"/>
                  <a:pt x="0" y="315803"/>
                </a:cubicBezTo>
                <a:cubicBezTo>
                  <a:pt x="0" y="337820"/>
                  <a:pt x="20320" y="355600"/>
                  <a:pt x="45482" y="355600"/>
                </a:cubicBezTo>
                <a:lnTo>
                  <a:pt x="310118" y="355600"/>
                </a:lnTo>
                <a:cubicBezTo>
                  <a:pt x="335201" y="355600"/>
                  <a:pt x="355600" y="337820"/>
                  <a:pt x="355600" y="315803"/>
                </a:cubicBezTo>
                <a:cubicBezTo>
                  <a:pt x="355600" y="308858"/>
                  <a:pt x="353536" y="302052"/>
                  <a:pt x="349647" y="296079"/>
                </a:cubicBezTo>
                <a:lnTo>
                  <a:pt x="254000" y="149671"/>
                </a:lnTo>
                <a:lnTo>
                  <a:pt x="254000" y="44450"/>
                </a:lnTo>
                <a:cubicBezTo>
                  <a:pt x="268049" y="44450"/>
                  <a:pt x="279400" y="34518"/>
                  <a:pt x="279400" y="22225"/>
                </a:cubicBezTo>
                <a:cubicBezTo>
                  <a:pt x="279400" y="9932"/>
                  <a:pt x="268049" y="0"/>
                  <a:pt x="254000" y="0"/>
                </a:cubicBezTo>
                <a:lnTo>
                  <a:pt x="228600" y="0"/>
                </a:lnTo>
                <a:close/>
                <a:moveTo>
                  <a:pt x="152400" y="149671"/>
                </a:moveTo>
                <a:lnTo>
                  <a:pt x="152400" y="44450"/>
                </a:lnTo>
                <a:lnTo>
                  <a:pt x="203200" y="44450"/>
                </a:lnTo>
                <a:lnTo>
                  <a:pt x="203200" y="149671"/>
                </a:lnTo>
                <a:cubicBezTo>
                  <a:pt x="203200" y="157381"/>
                  <a:pt x="205502" y="165021"/>
                  <a:pt x="209868" y="171758"/>
                </a:cubicBezTo>
                <a:lnTo>
                  <a:pt x="242888" y="222250"/>
                </a:lnTo>
                <a:lnTo>
                  <a:pt x="112713" y="222250"/>
                </a:lnTo>
                <a:lnTo>
                  <a:pt x="145733" y="171758"/>
                </a:lnTo>
                <a:cubicBezTo>
                  <a:pt x="150098" y="165021"/>
                  <a:pt x="152400" y="157450"/>
                  <a:pt x="152400" y="149671"/>
                </a:cubicBezTo>
                <a:close/>
              </a:path>
            </a:pathLst>
          </a:custGeom>
          <a:solidFill>
            <a:srgbClr val="B8833E"/>
          </a:solidFill>
        </p:spPr>
      </p:sp>
      <p:sp>
        <p:nvSpPr>
          <p:cNvPr id="20" name="Text 18"/>
          <p:cNvSpPr/>
          <p:nvPr/>
        </p:nvSpPr>
        <p:spPr>
          <a:xfrm>
            <a:off x="11531600" y="1651000"/>
            <a:ext cx="355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For Researchers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049000" y="2159000"/>
            <a:ext cx="4191000" cy="266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SHAP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over model-specific importance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Report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stability metrics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(mean ± σ)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Match evaluation metric to application need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400" dirty="0">
                <a:solidFill>
                  <a:srgbClr val="6B8E7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14</a:t>
            </a:r>
            <a:endParaRPr lang="en-US" sz="2400" dirty="0">
              <a:solidFill>
                <a:srgbClr val="6B8E7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3" name="Shape 1"/>
          <p:cNvSpPr/>
          <p:nvPr/>
        </p:nvSpPr>
        <p:spPr>
          <a:xfrm>
            <a:off x="9753600" y="558800"/>
            <a:ext cx="32512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INTRODUCTION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METHODOLOGY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DISCUSSION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762000"/>
            <a:ext cx="889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1E3D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Limitations</a:t>
            </a:r>
            <a:endParaRPr lang="en-US" sz="3600" b="1" dirty="0">
              <a:solidFill>
                <a:srgbClr val="1E3D3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762000" y="1651000"/>
          <a:ext cx="14732000" cy="3937000"/>
        </p:xfrm>
        <a:graphic>
          <a:graphicData uri="http://schemas.openxmlformats.org/drawingml/2006/table">
            <a:tbl>
              <a:tblPr/>
              <a:tblGrid>
                <a:gridCol w="3241040"/>
                <a:gridCol w="11490960"/>
              </a:tblGrid>
              <a:tr h="65747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Category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Limitation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</a:tr>
              <a:tr h="65747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Data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Single region (EUN1), specific patch period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65747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Prediction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Post-game only — not real-time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65747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Causality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Predictive association ≠ causal influence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65747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Generalization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May not extend to professional play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64960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Feature Selection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SULOV threshold (0.81) and top-15 are design choices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400" dirty="0">
                <a:solidFill>
                  <a:srgbClr val="6B8E7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15</a:t>
            </a:r>
            <a:endParaRPr lang="en-US" sz="2400" dirty="0">
              <a:solidFill>
                <a:srgbClr val="6B8E7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3" name="Shape 1"/>
          <p:cNvSpPr/>
          <p:nvPr/>
        </p:nvSpPr>
        <p:spPr>
          <a:xfrm>
            <a:off x="13004800" y="558800"/>
            <a:ext cx="32512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INTRODUCTION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METHODOLOGY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DISCUSSION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762000"/>
            <a:ext cx="889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1E3D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Future Work</a:t>
            </a:r>
            <a:endParaRPr lang="en-US" sz="3600" b="1" dirty="0">
              <a:solidFill>
                <a:srgbClr val="1E3D3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524000"/>
            <a:ext cx="4699000" cy="4040505"/>
          </a:xfrm>
          <a:prstGeom prst="rect">
            <a:avLst/>
          </a:prstGeom>
          <a:solidFill>
            <a:srgbClr val="E8E4DD"/>
          </a:solidFill>
        </p:spPr>
      </p:sp>
      <p:sp>
        <p:nvSpPr>
          <p:cNvPr id="11" name="Text 9"/>
          <p:cNvSpPr/>
          <p:nvPr/>
        </p:nvSpPr>
        <p:spPr>
          <a:xfrm>
            <a:off x="1016000" y="16764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kern="0" spc="200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SHORT-TERM</a:t>
            </a:r>
            <a:endParaRPr lang="en-US" sz="2400" b="1" kern="0" spc="200" dirty="0">
              <a:solidFill>
                <a:srgbClr val="B8833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6000" y="2082800"/>
            <a:ext cx="4191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Temporal feature engineering for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real-time prediction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Multi-region data collection for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cross-region validation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778500" y="1524000"/>
            <a:ext cx="4699000" cy="4053840"/>
          </a:xfrm>
          <a:prstGeom prst="rect">
            <a:avLst/>
          </a:prstGeom>
          <a:solidFill>
            <a:srgbClr val="E8E4DD"/>
          </a:solidFill>
        </p:spPr>
      </p:sp>
      <p:sp>
        <p:nvSpPr>
          <p:cNvPr id="14" name="Text 12"/>
          <p:cNvSpPr/>
          <p:nvPr/>
        </p:nvSpPr>
        <p:spPr>
          <a:xfrm>
            <a:off x="6032500" y="16764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kern="0" spc="200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MEDIUM-TERM</a:t>
            </a:r>
            <a:endParaRPr lang="en-US" sz="2400" b="1" kern="0" spc="200" dirty="0">
              <a:solidFill>
                <a:srgbClr val="B8833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32500" y="2082800"/>
            <a:ext cx="4191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Champion embeddings &amp; graph neural networks for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synergy modeling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Cross-patch transfer learning for </a:t>
            </a: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meta-shift adaptation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795000" y="1524000"/>
            <a:ext cx="4699000" cy="4011295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17" name="Text 15"/>
          <p:cNvSpPr/>
          <p:nvPr/>
        </p:nvSpPr>
        <p:spPr>
          <a:xfrm>
            <a:off x="11049000" y="16764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kern="0" spc="200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LONG-TERM</a:t>
            </a:r>
            <a:endParaRPr lang="en-US" sz="2400" b="1" kern="0" spc="200" dirty="0">
              <a:solidFill>
                <a:srgbClr val="B8833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049000" y="2082800"/>
            <a:ext cx="4191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Causal discovery methods → distinguish correlation from causation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Deployment: </a:t>
            </a: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Live win probability tools</a:t>
            </a: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for players &amp; broadcasters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400" dirty="0">
                <a:solidFill>
                  <a:srgbClr val="6B8E7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16</a:t>
            </a:r>
            <a:endParaRPr lang="en-US" sz="2400" dirty="0">
              <a:solidFill>
                <a:srgbClr val="6B8E7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3" name="Shape 1"/>
          <p:cNvSpPr/>
          <p:nvPr/>
        </p:nvSpPr>
        <p:spPr>
          <a:xfrm>
            <a:off x="13004800" y="558800"/>
            <a:ext cx="32512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INTRODUCTION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METHODOLOGY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DISCUSSION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762000"/>
            <a:ext cx="889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1E3D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Contributions</a:t>
            </a:r>
            <a:endParaRPr lang="en-US" sz="3600" b="1" dirty="0">
              <a:solidFill>
                <a:srgbClr val="1E3D3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524000"/>
            <a:ext cx="7239000" cy="4318000"/>
          </a:xfrm>
          <a:prstGeom prst="rect">
            <a:avLst/>
          </a:prstGeom>
          <a:solidFill>
            <a:srgbClr val="E8E4DD"/>
          </a:solidFill>
        </p:spPr>
      </p:sp>
      <p:sp>
        <p:nvSpPr>
          <p:cNvPr id="11" name="Text 9"/>
          <p:cNvSpPr/>
          <p:nvPr/>
        </p:nvSpPr>
        <p:spPr>
          <a:xfrm>
            <a:off x="1016000" y="170180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kern="0" spc="200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METHODOLOGICAL</a:t>
            </a:r>
            <a:endParaRPr lang="en-US" sz="2400" b="1" kern="0" spc="200" dirty="0">
              <a:solidFill>
                <a:srgbClr val="B8833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6000" y="2133600"/>
            <a:ext cx="6731000" cy="3505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Position-preserving feature engineering pipeline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Two-stage feature selection (SULOV + XGBoost RFE)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Comprehensive evaluation (4 metrics + 100-iteration stability + SHAP)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Open-source code release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55000" y="1524000"/>
            <a:ext cx="7239000" cy="4318000"/>
          </a:xfrm>
          <a:prstGeom prst="rect">
            <a:avLst/>
          </a:prstGeom>
          <a:solidFill>
            <a:srgbClr val="E8E4DD"/>
          </a:solidFill>
        </p:spPr>
      </p:sp>
      <p:sp>
        <p:nvSpPr>
          <p:cNvPr id="14" name="Text 12"/>
          <p:cNvSpPr/>
          <p:nvPr/>
        </p:nvSpPr>
        <p:spPr>
          <a:xfrm>
            <a:off x="8509000" y="170180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kern="0" spc="200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EMPIRICAL</a:t>
            </a:r>
            <a:endParaRPr lang="en-US" sz="2400" b="1" kern="0" spc="200" dirty="0">
              <a:solidFill>
                <a:srgbClr val="B8833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09000" y="2133600"/>
            <a:ext cx="6731000" cy="3505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Structure objectives dominate prediction (10× SHAP impact)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Runes as strategic signals, not direct predictors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Stability-performance trade-off documented (CatB vs. GradB)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400" dirty="0">
                <a:solidFill>
                  <a:srgbClr val="6B8E7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17</a:t>
            </a:r>
            <a:endParaRPr lang="en-US" sz="2400" dirty="0">
              <a:solidFill>
                <a:srgbClr val="6B8E7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3" name="Shape 1"/>
          <p:cNvSpPr/>
          <p:nvPr/>
        </p:nvSpPr>
        <p:spPr>
          <a:xfrm>
            <a:off x="13004800" y="558800"/>
            <a:ext cx="32512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4" name="Text 2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INTRODUCTION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METHODOLOGY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DISCUSSION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762000"/>
            <a:ext cx="889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1E3D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3600" b="1" dirty="0">
              <a:solidFill>
                <a:srgbClr val="1E3D3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524000"/>
            <a:ext cx="14732000" cy="1143000"/>
          </a:xfrm>
          <a:prstGeom prst="rect">
            <a:avLst/>
          </a:prstGeom>
          <a:solidFill>
            <a:srgbClr val="1E3D3A"/>
          </a:solidFill>
        </p:spPr>
      </p:sp>
      <p:sp>
        <p:nvSpPr>
          <p:cNvPr id="11" name="Text 9"/>
          <p:cNvSpPr/>
          <p:nvPr/>
        </p:nvSpPr>
        <p:spPr>
          <a:xfrm>
            <a:off x="1016000" y="1600200"/>
            <a:ext cx="14224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CAN WE PREDICT LEAGUE OF LEGENDS WINNERS?</a:t>
            </a:r>
            <a:endParaRPr lang="en-US" sz="24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6000" y="2006600"/>
            <a:ext cx="14224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Yes — with </a:t>
            </a:r>
            <a:r>
              <a:rPr lang="en-US" sz="24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95.75% accuracy</a:t>
            </a: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and </a:t>
            </a:r>
            <a:r>
              <a:rPr lang="en-US" sz="2400" b="1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R² = 0.87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2000" y="2997200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What Predicts Victory?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2000" y="3378200"/>
            <a:ext cx="5080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15" name="Text 13"/>
          <p:cNvSpPr/>
          <p:nvPr/>
        </p:nvSpPr>
        <p:spPr>
          <a:xfrm>
            <a:off x="762000" y="3581400"/>
            <a:ext cx="7112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Structures first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Turrets and inhibitors are 10× more predictive than combat stats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Jungler survival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Most impactful individual metric</a:t>
            </a:r>
            <a:endParaRPr lang="en-US" sz="24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Rune choices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Strategic signals, not direct causes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82000" y="2997200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What's the Best Model?</a:t>
            </a:r>
            <a:endParaRPr lang="en-US" sz="2400" b="1" dirty="0">
              <a:solidFill>
                <a:srgbClr val="1C1C1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382000" y="3378200"/>
            <a:ext cx="508000" cy="38100"/>
          </a:xfrm>
          <a:prstGeom prst="rect">
            <a:avLst/>
          </a:prstGeom>
          <a:solidFill>
            <a:srgbClr val="B8833E"/>
          </a:solidFill>
        </p:spPr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8382000" y="3581400"/>
          <a:ext cx="7112000" cy="2032000"/>
        </p:xfrm>
        <a:graphic>
          <a:graphicData uri="http://schemas.openxmlformats.org/drawingml/2006/table">
            <a:tbl>
              <a:tblPr/>
              <a:tblGrid>
                <a:gridCol w="3200400"/>
                <a:gridCol w="3911600"/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Goal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Best Model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Winner ID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Ridge (96.5%)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Probability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Gradient Boosting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Balanced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CatBoost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Max R²</a:t>
                      </a:r>
                      <a:endParaRPr lang="en-US" sz="2400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1C1C1E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Voting Regressor</a:t>
                      </a:r>
                      <a:endParaRPr lang="en-US" sz="2400" b="1" dirty="0">
                        <a:solidFill>
                          <a:srgbClr val="1C1C1E"/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62000" y="5969000"/>
            <a:ext cx="14732000" cy="533400"/>
          </a:xfrm>
          <a:prstGeom prst="rect">
            <a:avLst/>
          </a:prstGeom>
          <a:solidFill>
            <a:srgbClr val="E8E4DD"/>
          </a:solidFill>
        </p:spPr>
      </p:sp>
      <p:sp>
        <p:nvSpPr>
          <p:cNvPr id="18" name="Text 17"/>
          <p:cNvSpPr/>
          <p:nvPr/>
        </p:nvSpPr>
        <p:spPr>
          <a:xfrm>
            <a:off x="1016000" y="5969000"/>
            <a:ext cx="142240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Open Source:</a:t>
            </a:r>
            <a:r>
              <a:rPr lang="en-US" sz="2400" dirty="0">
                <a:solidFill>
                  <a:srgbClr val="1C1C1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Full code available for reproduction &amp; extension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400" dirty="0">
                <a:solidFill>
                  <a:srgbClr val="6B8E7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18</a:t>
            </a:r>
            <a:endParaRPr lang="en-US" sz="2400" dirty="0">
              <a:solidFill>
                <a:srgbClr val="6B8E7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2900045" y="883285"/>
            <a:ext cx="5418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5qaaogyzdbbo/mnt/agents/output/lol_win_prediction/images/1_Riot_Games_opens_League_of_Legends.png"/>
          <p:cNvPicPr>
            <a:picLocks noChangeAspect="1"/>
          </p:cNvPicPr>
          <p:nvPr/>
        </p:nvPicPr>
        <p:blipFill>
          <a:blip r:embed="rId1"/>
          <a:srcRect t="6835" b="6835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E1C">
                  <a:alpha val="53000"/>
                </a:srgbClr>
              </a:gs>
              <a:gs pos="50000">
                <a:srgbClr val="0F1E1C">
                  <a:alpha val="80000"/>
                </a:srgbClr>
              </a:gs>
              <a:gs pos="100000">
                <a:srgbClr val="0F1E1C">
                  <a:alpha val="93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>
            <a:endParaRPr lang="en-GB" altLang="en-US"/>
          </a:p>
        </p:txBody>
      </p:sp>
      <p:sp>
        <p:nvSpPr>
          <p:cNvPr id="4" name="Text 1"/>
          <p:cNvSpPr/>
          <p:nvPr/>
        </p:nvSpPr>
        <p:spPr>
          <a:xfrm>
            <a:off x="3048000" y="2540000"/>
            <a:ext cx="10160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kern="0" spc="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THANK YOU</a:t>
            </a:r>
            <a:endParaRPr lang="en-US" sz="4800" b="1" kern="0" spc="6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112000" y="3619500"/>
            <a:ext cx="2032000" cy="38100"/>
          </a:xfrm>
          <a:prstGeom prst="rect">
            <a:avLst/>
          </a:prstGeom>
          <a:solidFill>
            <a:srgbClr val="B8833E"/>
          </a:solidFill>
        </p:spPr>
      </p:sp>
      <p:sp>
        <p:nvSpPr>
          <p:cNvPr id="6" name="Text 3"/>
          <p:cNvSpPr/>
          <p:nvPr/>
        </p:nvSpPr>
        <p:spPr>
          <a:xfrm>
            <a:off x="4318000" y="38735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Questions &amp; Discussion</a:t>
            </a:r>
            <a:endParaRPr lang="en-US" sz="40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318000" y="46990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en-GB" sz="2400" dirty="0">
                <a:solidFill>
                  <a:srgbClr val="B883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ihegazi@std.mans.edu.eg</a:t>
            </a:r>
            <a:endParaRPr lang="en-US" altLang="en-GB" sz="2400" dirty="0">
              <a:solidFill>
                <a:srgbClr val="B8833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048000" y="5588000"/>
            <a:ext cx="1016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kern="0" spc="2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KEY REFERENCES</a:t>
            </a:r>
            <a:endParaRPr lang="en-US" sz="3200" b="1" kern="0" spc="2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413000" y="5969000"/>
            <a:ext cx="11430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Chowdhury et al. (2024) — Linear &amp; ensemble LoL prediction</a:t>
            </a:r>
            <a:endParaRPr lang="en-US" sz="2400" dirty="0"/>
          </a:p>
          <a:p>
            <a:pPr algn="ctr"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Bahrololloomi et al. (2023) — Role-aware player metrics</a:t>
            </a:r>
            <a:endParaRPr lang="en-US" sz="2400" dirty="0"/>
          </a:p>
          <a:p>
            <a:pPr algn="ctr"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Lundberg &amp; Lee (2017) — SHAP unified interpretability</a:t>
            </a:r>
            <a:endParaRPr lang="en-US" sz="2400" dirty="0"/>
          </a:p>
          <a:p>
            <a:pPr algn="ctr"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Chen &amp; Guestrin (2016) — XGBoost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TABLE_ENDDRAG_ORIGIN_RECT" val="737*314"/>
  <p:tag name="TABLE_ENDDRAG_RECT" val="60*116*737*314"/>
</p:tagLst>
</file>

<file path=ppt/tags/tag2.xml><?xml version="1.0" encoding="utf-8"?>
<p:tagLst xmlns:p="http://schemas.openxmlformats.org/presentationml/2006/main">
  <p:tag name="TABLE_ENDDRAG_ORIGIN_RECT" val="1160*265"/>
  <p:tag name="TABLE_ENDDRAG_RECT" val="60*116*1160*265"/>
</p:tagLst>
</file>

<file path=ppt/tags/tag3.xml><?xml version="1.0" encoding="utf-8"?>
<p:tagLst xmlns:p="http://schemas.openxmlformats.org/presentationml/2006/main">
  <p:tag name="TABLE_ENDDRAG_ORIGIN_RECT" val="789*422"/>
  <p:tag name="TABLE_ENDDRAG_RECT" val="5*114*789*422"/>
</p:tagLst>
</file>

<file path=ppt/tags/tag4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ags/tag5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ags/tag6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ags/tag7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ags/tag8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ags/tag9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ags/tag10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ags/tag11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ags/tag12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ags/tag13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ags/tag14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ags/tag15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ags/tag16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ags/tag17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ags/tag18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ags/tag19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ags/tag20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ags/tag21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ags/tag22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ags/tag23.xml><?xml version="1.0" encoding="utf-8"?>
<p:tagLst xmlns:p="http://schemas.openxmlformats.org/presentationml/2006/main">
  <p:tag name="KSO_WM_DIAGRAM_VIRTUALLY_FRAME" val="{&quot;height&quot;:542,&quot;left&quot;:60,&quot;top&quot;:120,&quot;width&quot;:1160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9054</Words>
  <Application>WPS Presentation</Application>
  <PresentationFormat>On-screen Show (16:9)</PresentationFormat>
  <Paragraphs>836</Paragraphs>
  <Slides>19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7" baseType="lpstr">
      <vt:lpstr>Arial</vt:lpstr>
      <vt:lpstr>SimSun</vt:lpstr>
      <vt:lpstr>Wingdings</vt:lpstr>
      <vt:lpstr>Mongolian Baiti</vt:lpstr>
      <vt:lpstr>Calibri</vt:lpstr>
      <vt:lpstr>Tahoma</vt:lpstr>
      <vt:lpstr>Quattrocento Sans</vt:lpstr>
      <vt:lpstr>Quattrocento Sans</vt:lpstr>
      <vt:lpstr>Quattrocento Sans</vt:lpstr>
      <vt:lpstr>Arial</vt:lpstr>
      <vt:lpstr>quote-cjk-patch</vt:lpstr>
      <vt:lpstr>Segoe Print</vt:lpstr>
      <vt:lpstr>Microsoft YaHei</vt:lpstr>
      <vt:lpstr>Arial Unicode MS</vt:lpstr>
      <vt:lpstr>Aldhabi</vt:lpstr>
      <vt:lpstr>Calibri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League of Legends Win Prediction: A Machine Learning Approach</dc:title>
  <dc:creator>Kimi</dc:creator>
  <dc:subject>League of Legends Win Prediction: A Machine Learning Approach</dc:subject>
  <cp:lastModifiedBy>Ibrahim Hegazi</cp:lastModifiedBy>
  <cp:revision>7</cp:revision>
  <dcterms:created xsi:type="dcterms:W3CDTF">2026-07-03T12:43:00Z</dcterms:created>
  <dcterms:modified xsi:type="dcterms:W3CDTF">2026-07-04T08:06:31Z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{"Label":"League of Legends Win Prediction: A Machine Learning Approach","ContentProducer":"001191110108MACG2KBH8F10000","ProduceID":"19f27f16-d4f2-8ff7-8000-000047f75271","ReservedCode1":"","ContentPropagator":"001191110108MACG2KBH8F20000","PropagateID":"19f27edc-6402-864c-8000-09ed7b37465f","ReservedCode2":""}</vt:lpwstr>
  </property>
  <property fmtid="{D5CDD505-2E9C-101B-9397-08002B2CF9AE}" pid="3" name="ICV">
    <vt:lpwstr>BD7BE90DC36F4233B7719F4607C8DDE0_12</vt:lpwstr>
  </property>
  <property fmtid="{D5CDD505-2E9C-101B-9397-08002B2CF9AE}" pid="4" name="KSOProductBuildVer">
    <vt:lpwstr>2057-12.2.0.23206</vt:lpwstr>
  </property>
</Properties>
</file>